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09" r:id="rId2"/>
    <p:sldId id="276" r:id="rId3"/>
    <p:sldId id="310" r:id="rId4"/>
    <p:sldId id="305" r:id="rId5"/>
    <p:sldId id="281" r:id="rId6"/>
    <p:sldId id="306" r:id="rId7"/>
    <p:sldId id="307" r:id="rId8"/>
    <p:sldId id="287" r:id="rId9"/>
    <p:sldId id="289" r:id="rId10"/>
    <p:sldId id="292" r:id="rId11"/>
    <p:sldId id="297" r:id="rId12"/>
    <p:sldId id="301" r:id="rId13"/>
    <p:sldId id="302" r:id="rId14"/>
    <p:sldId id="30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D7F7"/>
    <a:srgbClr val="FFDF7F"/>
    <a:srgbClr val="D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152" autoAdjust="0"/>
  </p:normalViewPr>
  <p:slideViewPr>
    <p:cSldViewPr snapToGrid="0">
      <p:cViewPr varScale="1">
        <p:scale>
          <a:sx n="101" d="100"/>
          <a:sy n="101" d="100"/>
        </p:scale>
        <p:origin x="9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A5B3FB0-290C-15E0-1AF7-B7F7E29277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A898EF-9BF1-7279-2976-DBF4E6F8B0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868351-BBA8-4DB9-9514-CD26259436EB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5845AB-EE2B-1953-EFDB-CD01B8C2C7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D49E6A-4771-551A-3C53-9F213DD42E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BDCF9-BCFD-424C-BC67-4589A55211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216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57FEC-5405-4FE1-BF1E-8E9EA57A9D79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2F272-3281-4A42-9B7D-7B3B45CBF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6582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F272-3281-4A42-9B7D-7B3B45CBFEB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424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77D4-870B-B92A-02AA-59EB32494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44C8C2-F75C-93B8-CF1F-BA9962053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D76B48-FAA5-FFED-A524-54B08CEE8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다양한 시스템에서 입력과 출력은 표와 같이 나타납니다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이중 기계 시스템의 </a:t>
            </a:r>
            <a:r>
              <a:rPr lang="ko-KR" altLang="en-US" dirty="0" err="1"/>
              <a:t>모달</a:t>
            </a:r>
            <a:r>
              <a:rPr lang="ko-KR" altLang="en-US" dirty="0"/>
              <a:t> 해석을 보면 입력은 뉴턴</a:t>
            </a:r>
            <a:r>
              <a:rPr lang="en-US" altLang="ko-KR" dirty="0"/>
              <a:t>, 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7125A-AA5F-3B6B-CB1D-F34B68EFE8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F272-3281-4A42-9B7D-7B3B45CBFEB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581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792D2-CBE3-67DF-3BB7-05656D98E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950A9-7D82-A34D-9FDF-6A39E4E1D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FBF1A9-F347-DAA3-9E74-F3AEFDF0F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8DB62A-0AB5-1B87-59EC-536CBF297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F272-3281-4A42-9B7D-7B3B45CBFEB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941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931B-5FCE-7A97-ADC1-687C2432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86C802-B5F7-333D-D1C7-D4D1C0DDB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1B498D-F3EA-5CFA-9854-FAC16CEEB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5CB1F0-E035-62B4-C408-5287BC664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F272-3281-4A42-9B7D-7B3B45CBFEB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435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88F94-3A58-5696-54D0-33CC7092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6CACEA-AD97-63D8-D1E7-B18B9065D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199BBA-BE5B-6035-3163-39F759077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입력과 상관된 출력 성분 </a:t>
            </a:r>
            <a:r>
              <a:rPr lang="en-US" altLang="ko-KR" dirty="0"/>
              <a:t>/ </a:t>
            </a:r>
            <a:r>
              <a:rPr lang="ko-KR" altLang="en-US" dirty="0"/>
              <a:t>입력 에너지</a:t>
            </a:r>
            <a:endParaRPr lang="en-US" altLang="ko-KR" dirty="0"/>
          </a:p>
          <a:p>
            <a:r>
              <a:rPr lang="ko-KR" altLang="en-US" dirty="0"/>
              <a:t>켤레는 “두 신호의 위상 차이만 남기고 </a:t>
            </a:r>
            <a:r>
              <a:rPr lang="ko-KR" altLang="en-US" dirty="0" err="1"/>
              <a:t>비교”하기</a:t>
            </a:r>
            <a:r>
              <a:rPr lang="ko-KR" altLang="en-US" dirty="0"/>
              <a:t> 위해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B8433D-7B36-36F1-7160-A231424AC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F272-3281-4A42-9B7D-7B3B45CBFEB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725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97102-1656-01E4-A9A3-B7BFBC618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253618-D1DD-44F8-424C-CBB4E3750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E35BD2-9EDA-96A6-425F-6BA91C7D4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입력과 상관된 출력 성분 </a:t>
            </a:r>
            <a:r>
              <a:rPr lang="en-US" altLang="ko-KR" dirty="0"/>
              <a:t>/ </a:t>
            </a:r>
            <a:r>
              <a:rPr lang="ko-KR" altLang="en-US" dirty="0"/>
              <a:t>입력 에너지</a:t>
            </a:r>
            <a:endParaRPr lang="en-US" altLang="ko-KR" dirty="0"/>
          </a:p>
          <a:p>
            <a:r>
              <a:rPr lang="ko-KR" altLang="en-US" dirty="0"/>
              <a:t>켤레는 “두 신호의 위상 차이만 남기고 </a:t>
            </a:r>
            <a:r>
              <a:rPr lang="ko-KR" altLang="en-US" dirty="0" err="1"/>
              <a:t>비교”하기</a:t>
            </a:r>
            <a:r>
              <a:rPr lang="ko-KR" altLang="en-US" dirty="0"/>
              <a:t> 위해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01076B-B2DA-99E4-4232-D6D1252B5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F272-3281-4A42-9B7D-7B3B45CBFEB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915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F39B-BC30-FAAC-2827-3F21FCA7B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B956F3-05DB-EAA7-C261-D5F7C6995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44E767-5859-C587-A35E-6888CE35B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“이렇게 해서 </a:t>
            </a:r>
            <a:r>
              <a:rPr lang="en-US" altLang="ko-KR" dirty="0"/>
              <a:t>FRF</a:t>
            </a:r>
            <a:r>
              <a:rPr lang="ko-KR" altLang="en-US" dirty="0"/>
              <a:t>를 구하면</a:t>
            </a:r>
            <a:r>
              <a:rPr lang="en-US" altLang="ko-KR" dirty="0"/>
              <a:t>, </a:t>
            </a:r>
            <a:r>
              <a:rPr lang="ko-KR" altLang="en-US" dirty="0"/>
              <a:t>결과는 단순한 값이 아니라 </a:t>
            </a:r>
            <a:r>
              <a:rPr lang="ko-KR" altLang="en-US" b="1" dirty="0"/>
              <a:t>복소수 형태</a:t>
            </a:r>
            <a:r>
              <a:rPr lang="ko-KR" altLang="en-US" dirty="0"/>
              <a:t>로 나타납니다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“즉</a:t>
            </a:r>
            <a:r>
              <a:rPr lang="en-US" altLang="ko-KR" dirty="0"/>
              <a:t>, FRF</a:t>
            </a:r>
            <a:r>
              <a:rPr lang="ko-KR" altLang="en-US" dirty="0"/>
              <a:t>는 </a:t>
            </a:r>
            <a:r>
              <a:rPr lang="ko-KR" altLang="en-US" dirty="0" err="1"/>
              <a:t>크기뿐만</a:t>
            </a:r>
            <a:r>
              <a:rPr lang="ko-KR" altLang="en-US" dirty="0"/>
              <a:t> 아니라 </a:t>
            </a:r>
            <a:r>
              <a:rPr lang="ko-KR" altLang="en-US" b="1" dirty="0"/>
              <a:t>위상 정보까지 포함된 함수</a:t>
            </a:r>
            <a:r>
              <a:rPr lang="ko-KR" altLang="en-US" dirty="0"/>
              <a:t>입니다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“이 복소수를 해석하는 방법은 두 가지가 있는데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하나는 </a:t>
            </a:r>
            <a:r>
              <a:rPr lang="ko-KR" altLang="en-US" b="1" dirty="0"/>
              <a:t>진폭과 위상으로 보는 방법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다른 하나는 </a:t>
            </a:r>
            <a:r>
              <a:rPr lang="ko-KR" altLang="en-US" b="1" dirty="0"/>
              <a:t>실수부와 허수부로 나누어 보는 방법</a:t>
            </a:r>
            <a:r>
              <a:rPr lang="ko-KR" altLang="en-US" dirty="0"/>
              <a:t>입니다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r>
              <a:rPr lang="ko-KR" altLang="en-US" dirty="0"/>
              <a:t>오른쪽 그래프</a:t>
            </a:r>
            <a:endParaRPr lang="en-US" altLang="ko-KR" dirty="0"/>
          </a:p>
          <a:p>
            <a:r>
              <a:rPr lang="ko-KR" altLang="en-US" dirty="0"/>
              <a:t>“특히 공진 주파수에서는</a:t>
            </a:r>
            <a:br>
              <a:rPr lang="ko-KR" altLang="en-US" dirty="0"/>
            </a:br>
            <a:r>
              <a:rPr lang="ko-KR" altLang="en-US" dirty="0"/>
              <a:t>실수부는 </a:t>
            </a:r>
            <a:r>
              <a:rPr lang="en-US" altLang="ko-KR" dirty="0"/>
              <a:t>0</a:t>
            </a:r>
            <a:r>
              <a:rPr lang="ko-KR" altLang="en-US" dirty="0"/>
              <a:t>에 가까워지고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허수부는 최대값</a:t>
            </a:r>
            <a:r>
              <a:rPr lang="en-US" altLang="ko-KR" dirty="0"/>
              <a:t>(peak)</a:t>
            </a:r>
            <a:r>
              <a:rPr lang="ko-KR" altLang="en-US" dirty="0"/>
              <a:t>을 나타냅니다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“그래서 이 허수부의 피크와 부호를 이용하면</a:t>
            </a:r>
            <a:br>
              <a:rPr lang="ko-KR" altLang="en-US" dirty="0"/>
            </a:br>
            <a:r>
              <a:rPr lang="ko-KR" altLang="en-US" dirty="0"/>
              <a:t>각 주파수에서의 **모드 형상</a:t>
            </a:r>
            <a:r>
              <a:rPr lang="en-US" altLang="ko-KR" dirty="0"/>
              <a:t>(mode shape)**</a:t>
            </a:r>
            <a:r>
              <a:rPr lang="ko-KR" altLang="en-US" dirty="0"/>
              <a:t>을 파악할 수 있습니다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EFE87-2981-3D0C-8425-2A95EADC4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F272-3281-4A42-9B7D-7B3B45CBFEB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505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CD99F-C8F9-6230-EE90-341E48E97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A10572-5E9C-85B7-D929-62350AB64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99FCB8-F5F6-A1CF-BE24-E92B3169E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</a:t>
            </a:r>
            <a:r>
              <a:rPr lang="en-US" altLang="ko-KR" dirty="0"/>
              <a:t>532Hz</a:t>
            </a:r>
            <a:r>
              <a:rPr lang="ko-KR" altLang="en-US" dirty="0"/>
              <a:t>에서 허수 </a:t>
            </a:r>
            <a:r>
              <a:rPr lang="en-US" altLang="ko-KR" dirty="0"/>
              <a:t>FRF</a:t>
            </a:r>
            <a:r>
              <a:rPr lang="ko-KR" altLang="en-US" dirty="0"/>
              <a:t>를 보면 위치에 따라 위상과 진폭이 다르게 나타납니다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특히 같은 위상을 가지는 지점들은 같은 방향으로 진동하고</a:t>
            </a:r>
            <a:r>
              <a:rPr lang="en-US" altLang="ko-KR" dirty="0"/>
              <a:t>, </a:t>
            </a:r>
            <a:r>
              <a:rPr lang="ko-KR" altLang="en-US" dirty="0"/>
              <a:t>반대 위상은 반대 방향으로 움직입니다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이러한 정보를 통해 모드 형상을 파악할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공진 주파수에서는 응답이 허수부에 지배되므로</a:t>
            </a:r>
            <a:r>
              <a:rPr lang="en-US" altLang="ko-KR" dirty="0"/>
              <a:t>, </a:t>
            </a:r>
            <a:r>
              <a:rPr lang="ko-KR" altLang="en-US" dirty="0"/>
              <a:t>허수부의 크기와 부호를 이용해 모드 형상을 효과적으로 파악할 수 있음</a:t>
            </a:r>
            <a:endParaRPr lang="en-US" altLang="ko-KR" dirty="0"/>
          </a:p>
          <a:p>
            <a:r>
              <a:rPr lang="ko-KR" altLang="en-US" dirty="0"/>
              <a:t>공진에서는 허수부가 거의 전부이기 때문”</a:t>
            </a:r>
            <a:endParaRPr lang="en-US" altLang="ko-KR" dirty="0"/>
          </a:p>
          <a:p>
            <a:r>
              <a:rPr lang="ko-KR" altLang="en-US" dirty="0"/>
              <a:t>하지만 이는 </a:t>
            </a:r>
            <a:r>
              <a:rPr lang="ko-KR" altLang="en-US" dirty="0" err="1"/>
              <a:t>모드형상을</a:t>
            </a:r>
            <a:r>
              <a:rPr lang="ko-KR" altLang="en-US" dirty="0"/>
              <a:t> 볼 때 사용되는 것이며</a:t>
            </a:r>
            <a:r>
              <a:rPr lang="en-US" altLang="ko-KR" dirty="0"/>
              <a:t>, </a:t>
            </a:r>
            <a:r>
              <a:rPr lang="ko-KR" altLang="en-US" dirty="0"/>
              <a:t>전체적 파악을 위해서는 전체 </a:t>
            </a:r>
            <a:r>
              <a:rPr lang="en-US" altLang="ko-KR" dirty="0"/>
              <a:t>FRF, </a:t>
            </a:r>
            <a:r>
              <a:rPr lang="ko-KR" altLang="en-US" dirty="0"/>
              <a:t>즉 실수부가 포함된 </a:t>
            </a:r>
            <a:r>
              <a:rPr lang="en-US" altLang="ko-KR" dirty="0"/>
              <a:t>FRF</a:t>
            </a:r>
            <a:r>
              <a:rPr lang="ko-KR" altLang="en-US" dirty="0"/>
              <a:t>의 분석이 필요합니다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E9F68D-CAEE-C214-FEB0-1314D2D96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F272-3281-4A42-9B7D-7B3B45CBFEB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000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1F784-2018-EB2F-D4A4-3A00D48A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99C8DA-C2BA-3DBB-A0C6-995DA1AAC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13E035A4-42B1-6D50-DA92-B1D262D578B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sz="1800" dirty="0"/>
                  <a:t>“지금까지 </a:t>
                </a:r>
                <a:r>
                  <a:rPr lang="en-US" altLang="ko-KR" sz="1800" dirty="0"/>
                  <a:t>FRF</a:t>
                </a:r>
                <a:r>
                  <a:rPr lang="ko-KR" altLang="en-US" sz="1800" dirty="0"/>
                  <a:t>를 통해 시스템의 특성과 모드 형상을 확인할 수 있었습니다</a:t>
                </a:r>
                <a:r>
                  <a:rPr lang="en-US" altLang="ko-KR" sz="1800" dirty="0"/>
                  <a:t>.”</a:t>
                </a:r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그런데 여기서 한 가지 중요한 질문이 있습니다</a:t>
                </a:r>
                <a:r>
                  <a:rPr lang="en-US" altLang="ko-KR" sz="1800" dirty="0"/>
                  <a:t>.”</a:t>
                </a:r>
              </a:p>
              <a:p>
                <a:r>
                  <a:rPr lang="ko-KR" altLang="en-US" sz="1800" b="1" dirty="0"/>
                  <a:t>“이 </a:t>
                </a:r>
                <a:r>
                  <a:rPr lang="en-US" altLang="ko-KR" sz="1800" b="1" dirty="0"/>
                  <a:t>FRF </a:t>
                </a:r>
                <a:r>
                  <a:rPr lang="ko-KR" altLang="en-US" sz="1800" b="1" dirty="0"/>
                  <a:t>결과를 얼마나 신뢰할 수 있는가</a:t>
                </a:r>
                <a:r>
                  <a:rPr lang="en-US" altLang="ko-KR" sz="1800" b="1" dirty="0"/>
                  <a:t>?”</a:t>
                </a:r>
                <a:endParaRPr lang="ko-KR" altLang="en-US" sz="1800" dirty="0"/>
              </a:p>
              <a:p>
                <a:r>
                  <a:rPr lang="ko-KR" altLang="en-US" sz="1800" dirty="0"/>
                  <a:t>“이 신뢰도를 평가하는 지표가 바로 </a:t>
                </a:r>
                <a:r>
                  <a:rPr lang="en-US" altLang="ko-KR" sz="1800" b="1" dirty="0"/>
                  <a:t>Coherence</a:t>
                </a:r>
                <a:r>
                  <a:rPr lang="ko-KR" altLang="en-US" sz="1800" dirty="0"/>
                  <a:t>입니다</a:t>
                </a:r>
                <a:r>
                  <a:rPr lang="en-US" altLang="ko-KR" sz="1800" dirty="0"/>
                  <a:t>.”</a:t>
                </a:r>
              </a:p>
              <a:p>
                <a:br>
                  <a:rPr lang="en-US" altLang="ko-KR" sz="1800" dirty="0"/>
                </a:br>
                <a:endParaRPr lang="en-US" altLang="ko-KR" sz="1800" dirty="0"/>
              </a:p>
              <a:p>
                <a:r>
                  <a:rPr lang="en-US" altLang="ko-KR" sz="1800" dirty="0"/>
                  <a:t>“Coherence</a:t>
                </a:r>
                <a:r>
                  <a:rPr lang="ko-KR" altLang="en-US" sz="1800" dirty="0"/>
                  <a:t>는 입력과 출력 간의 </a:t>
                </a:r>
                <a:r>
                  <a:rPr lang="ko-KR" altLang="en-US" sz="1800" b="1" dirty="0"/>
                  <a:t>선형 관계의 신뢰도</a:t>
                </a:r>
                <a:r>
                  <a:rPr lang="ko-KR" altLang="en-US" sz="1800" dirty="0"/>
                  <a:t>를 나타내는 함수입니다</a:t>
                </a:r>
                <a:r>
                  <a:rPr lang="en-US" altLang="ko-KR" sz="1800" dirty="0"/>
                  <a:t>.”</a:t>
                </a:r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값은 주파수에 따라 변하며</a:t>
                </a:r>
                <a:r>
                  <a:rPr lang="en-US" altLang="ko-KR" sz="1800" dirty="0"/>
                  <a:t>, </a:t>
                </a:r>
                <a:r>
                  <a:rPr lang="en-US" altLang="ko-KR" sz="1800" b="1" dirty="0"/>
                  <a:t>0</a:t>
                </a:r>
                <a:r>
                  <a:rPr lang="ko-KR" altLang="en-US" sz="1800" b="1" dirty="0"/>
                  <a:t>에서 </a:t>
                </a:r>
                <a:r>
                  <a:rPr lang="en-US" altLang="ko-KR" sz="1800" b="1" dirty="0"/>
                  <a:t>1 </a:t>
                </a:r>
                <a:r>
                  <a:rPr lang="ko-KR" altLang="en-US" sz="1800" b="1" dirty="0"/>
                  <a:t>사이의 값을 가집니다</a:t>
                </a:r>
                <a:r>
                  <a:rPr lang="en-US" altLang="ko-KR" sz="1800" b="1" dirty="0"/>
                  <a:t>.</a:t>
                </a:r>
                <a:r>
                  <a:rPr lang="ko-KR" altLang="en-US" sz="1800" dirty="0"/>
                  <a:t>”</a:t>
                </a:r>
              </a:p>
              <a:p>
                <a:r>
                  <a:rPr lang="ko-KR" altLang="en-US" sz="1800" dirty="0"/>
                  <a:t>“</a:t>
                </a:r>
                <a:r>
                  <a:rPr lang="en-US" altLang="ko-KR" sz="1800" dirty="0"/>
                  <a:t>Coherence</a:t>
                </a:r>
                <a:r>
                  <a:rPr lang="ko-KR" altLang="en-US" sz="1800" dirty="0"/>
                  <a:t>가 </a:t>
                </a:r>
                <a:r>
                  <a:rPr lang="en-US" altLang="ko-KR" sz="1800" dirty="0"/>
                  <a:t>1</a:t>
                </a:r>
                <a:r>
                  <a:rPr lang="ko-KR" altLang="en-US" sz="1800" dirty="0"/>
                  <a:t>에 가까우면 입력과 출력의 관계가 명확하고</a:t>
                </a:r>
                <a:r>
                  <a:rPr lang="en-US" altLang="ko-KR" sz="1800" dirty="0"/>
                  <a:t>,</a:t>
                </a:r>
                <a:br>
                  <a:rPr lang="en-US" altLang="ko-KR" sz="1800" dirty="0"/>
                </a:br>
                <a:r>
                  <a:rPr lang="en-US" altLang="ko-KR" sz="1800" dirty="0"/>
                  <a:t>0</a:t>
                </a:r>
                <a:r>
                  <a:rPr lang="ko-KR" altLang="en-US" sz="1800" dirty="0"/>
                  <a:t>에 가까우면 노이즈 등의 영향이 크다고 해석할 수 있습니다</a:t>
                </a:r>
                <a:r>
                  <a:rPr lang="en-US" altLang="ko-KR" sz="1800" dirty="0"/>
                  <a:t>.”</a:t>
                </a:r>
              </a:p>
              <a:p>
                <a:br>
                  <a:rPr lang="en-US" altLang="ko-KR" sz="1800" dirty="0"/>
                </a:br>
                <a:endParaRPr lang="en-US" altLang="ko-KR" sz="1800" dirty="0"/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수식적으로 보면</a:t>
                </a:r>
                <a:r>
                  <a:rPr lang="en-US" altLang="ko-KR" sz="1800" dirty="0"/>
                  <a:t>, coherence</a:t>
                </a:r>
                <a:r>
                  <a:rPr lang="ko-KR" altLang="en-US" sz="1800" dirty="0"/>
                  <a:t>는 다음과 같이 정의됩니다</a:t>
                </a:r>
                <a:r>
                  <a:rPr lang="en-US" altLang="ko-KR" sz="1800" dirty="0"/>
                  <a:t>.”</a:t>
                </a:r>
              </a:p>
              <a:p>
                <a:r>
                  <a:rPr lang="en-US" altLang="ko-KR" sz="1800" dirty="0"/>
                  <a:t>(</a:t>
                </a:r>
                <a:r>
                  <a:rPr lang="ko-KR" altLang="en-US" sz="1800" dirty="0"/>
                  <a:t>수식 짚기</a:t>
                </a:r>
                <a:r>
                  <a:rPr lang="en-US" altLang="ko-KR" sz="1800" dirty="0"/>
                  <a:t>)</a:t>
                </a:r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이 식의 의미를 보면</a:t>
                </a:r>
                <a:r>
                  <a:rPr lang="en-US" altLang="ko-KR" sz="1800" dirty="0"/>
                  <a:t>,”</a:t>
                </a:r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분자 </a:t>
                </a:r>
                <a14:m>
                  <m:oMath xmlns:m="http://schemas.openxmlformats.org/officeDocument/2006/math">
                    <m:r>
                      <a:rPr lang="ko-KR" alt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∣</m:t>
                    </m:r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𝐻</m:t>
                    </m:r>
                    <m:d>
                      <m:d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</m:d>
                    <m:sSup>
                      <m:sSup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ko-KR" alt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</m:e>
                      <m:sup>
                        <m:r>
                          <a:rPr lang="en-US" altLang="ko-KR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𝑥𝑥</m:t>
                        </m:r>
                      </m:sub>
                    </m:sSub>
                    <m:d>
                      <m:d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</m:d>
                  </m:oMath>
                </a14:m>
                <a:r>
                  <a:rPr lang="ko-KR" altLang="en-US" sz="1800" dirty="0"/>
                  <a:t>는</a:t>
                </a:r>
                <a:br>
                  <a:rPr lang="ko-KR" altLang="en-US" sz="1800" dirty="0"/>
                </a:br>
                <a:r>
                  <a:rPr lang="ko-KR" altLang="en-US" sz="1800" dirty="0"/>
                  <a:t>입력으로부터 </a:t>
                </a:r>
                <a:r>
                  <a:rPr lang="ko-KR" altLang="en-US" sz="1800" b="1" dirty="0"/>
                  <a:t>이론적으로 예측되는 출력 에너지</a:t>
                </a:r>
                <a:r>
                  <a:rPr lang="ko-KR" altLang="en-US" sz="1800" dirty="0"/>
                  <a:t>를 의미하고</a:t>
                </a:r>
                <a:r>
                  <a:rPr lang="en-US" altLang="ko-KR" sz="1800" dirty="0"/>
                  <a:t>,”</a:t>
                </a:r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분모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𝑦𝑦</m:t>
                        </m:r>
                      </m:sub>
                    </m:sSub>
                    <m:d>
                      <m:d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</m:d>
                  </m:oMath>
                </a14:m>
                <a:r>
                  <a:rPr lang="ko-KR" altLang="en-US" sz="1800" dirty="0"/>
                  <a:t>는</a:t>
                </a:r>
                <a:br>
                  <a:rPr lang="ko-KR" altLang="en-US" sz="1800" dirty="0"/>
                </a:br>
                <a:r>
                  <a:rPr lang="ko-KR" altLang="en-US" sz="1800" b="1" dirty="0"/>
                  <a:t>실제로 측정된 전체 출력 에너지</a:t>
                </a:r>
                <a:r>
                  <a:rPr lang="ko-KR" altLang="en-US" sz="1800" dirty="0"/>
                  <a:t>를 의미합니다</a:t>
                </a:r>
                <a:r>
                  <a:rPr lang="en-US" altLang="ko-KR" sz="1800" dirty="0"/>
                  <a:t>.”</a:t>
                </a:r>
              </a:p>
              <a:p>
                <a:br>
                  <a:rPr lang="en-US" altLang="ko-KR" sz="1800" dirty="0"/>
                </a:br>
                <a:endParaRPr lang="en-US" altLang="ko-KR" sz="1800" dirty="0"/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따라서 </a:t>
                </a:r>
                <a:r>
                  <a:rPr lang="en-US" altLang="ko-KR" sz="1800" dirty="0"/>
                  <a:t>coherence</a:t>
                </a:r>
                <a:r>
                  <a:rPr lang="ko-KR" altLang="en-US" sz="1800" dirty="0"/>
                  <a:t>는</a:t>
                </a:r>
                <a:r>
                  <a:rPr lang="en-US" altLang="ko-KR" sz="1800" dirty="0"/>
                  <a:t>,”</a:t>
                </a:r>
              </a:p>
              <a:p>
                <a:r>
                  <a:rPr lang="ko-KR" altLang="en-US" sz="1800" b="1" dirty="0"/>
                  <a:t>“출력 신호 중에서 입력으로 설명 가능한 비율”</a:t>
                </a:r>
                <a:endParaRPr lang="ko-KR" altLang="en-US" sz="1800" dirty="0"/>
              </a:p>
              <a:p>
                <a:r>
                  <a:rPr lang="ko-KR" altLang="en-US" sz="1800" dirty="0"/>
                  <a:t>“즉</a:t>
                </a:r>
                <a:r>
                  <a:rPr lang="en-US" altLang="ko-KR" sz="1800" dirty="0"/>
                  <a:t>, </a:t>
                </a:r>
                <a:r>
                  <a:rPr lang="ko-KR" altLang="en-US" sz="1800" dirty="0"/>
                  <a:t>입력이 출력에 얼마나 제대로 반영되었는지를 나타내는 지표입니다</a:t>
                </a:r>
                <a:r>
                  <a:rPr lang="en-US" altLang="ko-KR" sz="1800" dirty="0"/>
                  <a:t>.”</a:t>
                </a:r>
              </a:p>
              <a:p>
                <a:br>
                  <a:rPr lang="en-US" altLang="ko-KR" sz="1800" dirty="0"/>
                </a:br>
                <a:endParaRPr lang="en-US" altLang="ko-KR" sz="1800" dirty="0"/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이상적인 경우 </a:t>
                </a:r>
                <a:r>
                  <a:rPr lang="en-US" altLang="ko-KR" sz="1800" dirty="0"/>
                  <a:t>coherence</a:t>
                </a:r>
                <a:r>
                  <a:rPr lang="ko-KR" altLang="en-US" sz="1800" dirty="0"/>
                  <a:t>는 </a:t>
                </a:r>
                <a:r>
                  <a:rPr lang="en-US" altLang="ko-KR" sz="1800" dirty="0"/>
                  <a:t>1</a:t>
                </a:r>
                <a:r>
                  <a:rPr lang="ko-KR" altLang="en-US" sz="1800" dirty="0"/>
                  <a:t>이 되지만</a:t>
                </a:r>
                <a:r>
                  <a:rPr lang="en-US" altLang="ko-KR" sz="1800" dirty="0"/>
                  <a:t>,</a:t>
                </a:r>
                <a:br>
                  <a:rPr lang="en-US" altLang="ko-KR" sz="1800" dirty="0"/>
                </a:br>
                <a:r>
                  <a:rPr lang="ko-KR" altLang="en-US" sz="1800" dirty="0"/>
                  <a:t>실제 측정에서는 노이즈나 비선형성 등의 영향으로 값이 감소하게 됩니다</a:t>
                </a:r>
                <a:r>
                  <a:rPr lang="en-US" altLang="ko-KR" sz="1800" dirty="0"/>
                  <a:t>.”</a:t>
                </a:r>
              </a:p>
              <a:p>
                <a:endParaRPr lang="en-US" altLang="ko-KR" sz="1800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13E035A4-42B1-6D50-DA92-B1D262D578B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sz="1800" dirty="0"/>
                  <a:t>“지금까지 </a:t>
                </a:r>
                <a:r>
                  <a:rPr lang="en-US" altLang="ko-KR" sz="1800" dirty="0"/>
                  <a:t>FRF</a:t>
                </a:r>
                <a:r>
                  <a:rPr lang="ko-KR" altLang="en-US" sz="1800" dirty="0"/>
                  <a:t>를 통해 시스템의 특성과 모드 형상을 확인할 수 있었습니다</a:t>
                </a:r>
                <a:r>
                  <a:rPr lang="en-US" altLang="ko-KR" sz="1800" dirty="0"/>
                  <a:t>.”</a:t>
                </a:r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그런데 여기서 한 가지 중요한 질문이 있습니다</a:t>
                </a:r>
                <a:r>
                  <a:rPr lang="en-US" altLang="ko-KR" sz="1800" dirty="0"/>
                  <a:t>.”</a:t>
                </a:r>
              </a:p>
              <a:p>
                <a:r>
                  <a:rPr lang="ko-KR" altLang="en-US" sz="1800" b="1" dirty="0"/>
                  <a:t>“이 </a:t>
                </a:r>
                <a:r>
                  <a:rPr lang="en-US" altLang="ko-KR" sz="1800" b="1" dirty="0"/>
                  <a:t>FRF </a:t>
                </a:r>
                <a:r>
                  <a:rPr lang="ko-KR" altLang="en-US" sz="1800" b="1" dirty="0"/>
                  <a:t>결과를 얼마나 신뢰할 수 있는가</a:t>
                </a:r>
                <a:r>
                  <a:rPr lang="en-US" altLang="ko-KR" sz="1800" b="1" dirty="0"/>
                  <a:t>?”</a:t>
                </a:r>
                <a:endParaRPr lang="ko-KR" altLang="en-US" sz="1800" dirty="0"/>
              </a:p>
              <a:p>
                <a:r>
                  <a:rPr lang="ko-KR" altLang="en-US" sz="1800" dirty="0"/>
                  <a:t>“이 신뢰도를 평가하는 지표가 바로 </a:t>
                </a:r>
                <a:r>
                  <a:rPr lang="en-US" altLang="ko-KR" sz="1800" b="1" dirty="0"/>
                  <a:t>Coherence</a:t>
                </a:r>
                <a:r>
                  <a:rPr lang="ko-KR" altLang="en-US" sz="1800" dirty="0"/>
                  <a:t>입니다</a:t>
                </a:r>
                <a:r>
                  <a:rPr lang="en-US" altLang="ko-KR" sz="1800" dirty="0"/>
                  <a:t>.”</a:t>
                </a:r>
              </a:p>
              <a:p>
                <a:br>
                  <a:rPr lang="en-US" altLang="ko-KR" sz="1800" dirty="0"/>
                </a:br>
                <a:endParaRPr lang="en-US" altLang="ko-KR" sz="1800" dirty="0"/>
              </a:p>
              <a:p>
                <a:r>
                  <a:rPr lang="en-US" altLang="ko-KR" sz="1800" dirty="0"/>
                  <a:t>“Coherence</a:t>
                </a:r>
                <a:r>
                  <a:rPr lang="ko-KR" altLang="en-US" sz="1800" dirty="0"/>
                  <a:t>는 입력과 출력 간의 </a:t>
                </a:r>
                <a:r>
                  <a:rPr lang="ko-KR" altLang="en-US" sz="1800" b="1" dirty="0"/>
                  <a:t>선형 관계의 신뢰도</a:t>
                </a:r>
                <a:r>
                  <a:rPr lang="ko-KR" altLang="en-US" sz="1800" dirty="0"/>
                  <a:t>를 나타내는 함수입니다</a:t>
                </a:r>
                <a:r>
                  <a:rPr lang="en-US" altLang="ko-KR" sz="1800" dirty="0"/>
                  <a:t>.”</a:t>
                </a:r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값은 주파수에 따라 변하며</a:t>
                </a:r>
                <a:r>
                  <a:rPr lang="en-US" altLang="ko-KR" sz="1800" dirty="0"/>
                  <a:t>, </a:t>
                </a:r>
                <a:r>
                  <a:rPr lang="en-US" altLang="ko-KR" sz="1800" b="1" dirty="0"/>
                  <a:t>0</a:t>
                </a:r>
                <a:r>
                  <a:rPr lang="ko-KR" altLang="en-US" sz="1800" b="1" dirty="0"/>
                  <a:t>에서 </a:t>
                </a:r>
                <a:r>
                  <a:rPr lang="en-US" altLang="ko-KR" sz="1800" b="1" dirty="0"/>
                  <a:t>1 </a:t>
                </a:r>
                <a:r>
                  <a:rPr lang="ko-KR" altLang="en-US" sz="1800" b="1" dirty="0"/>
                  <a:t>사이의 값을 가집니다</a:t>
                </a:r>
                <a:r>
                  <a:rPr lang="en-US" altLang="ko-KR" sz="1800" b="1" dirty="0"/>
                  <a:t>.</a:t>
                </a:r>
                <a:r>
                  <a:rPr lang="ko-KR" altLang="en-US" sz="1800" dirty="0"/>
                  <a:t>”</a:t>
                </a:r>
              </a:p>
              <a:p>
                <a:r>
                  <a:rPr lang="ko-KR" altLang="en-US" sz="1800" dirty="0"/>
                  <a:t>“</a:t>
                </a:r>
                <a:r>
                  <a:rPr lang="en-US" altLang="ko-KR" sz="1800" dirty="0"/>
                  <a:t>Coherence</a:t>
                </a:r>
                <a:r>
                  <a:rPr lang="ko-KR" altLang="en-US" sz="1800" dirty="0"/>
                  <a:t>가 </a:t>
                </a:r>
                <a:r>
                  <a:rPr lang="en-US" altLang="ko-KR" sz="1800" dirty="0"/>
                  <a:t>1</a:t>
                </a:r>
                <a:r>
                  <a:rPr lang="ko-KR" altLang="en-US" sz="1800" dirty="0"/>
                  <a:t>에 가까우면 입력과 출력의 관계가 명확하고</a:t>
                </a:r>
                <a:r>
                  <a:rPr lang="en-US" altLang="ko-KR" sz="1800" dirty="0"/>
                  <a:t>,</a:t>
                </a:r>
                <a:br>
                  <a:rPr lang="en-US" altLang="ko-KR" sz="1800" dirty="0"/>
                </a:br>
                <a:r>
                  <a:rPr lang="en-US" altLang="ko-KR" sz="1800" dirty="0"/>
                  <a:t>0</a:t>
                </a:r>
                <a:r>
                  <a:rPr lang="ko-KR" altLang="en-US" sz="1800" dirty="0"/>
                  <a:t>에 가까우면 노이즈 등의 영향이 크다고 해석할 수 있습니다</a:t>
                </a:r>
                <a:r>
                  <a:rPr lang="en-US" altLang="ko-KR" sz="1800" dirty="0"/>
                  <a:t>.”</a:t>
                </a:r>
              </a:p>
              <a:p>
                <a:br>
                  <a:rPr lang="en-US" altLang="ko-KR" sz="1800" dirty="0"/>
                </a:br>
                <a:endParaRPr lang="en-US" altLang="ko-KR" sz="1800" dirty="0"/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수식적으로 보면</a:t>
                </a:r>
                <a:r>
                  <a:rPr lang="en-US" altLang="ko-KR" sz="1800" dirty="0"/>
                  <a:t>, coherence</a:t>
                </a:r>
                <a:r>
                  <a:rPr lang="ko-KR" altLang="en-US" sz="1800" dirty="0"/>
                  <a:t>는 다음과 같이 정의됩니다</a:t>
                </a:r>
                <a:r>
                  <a:rPr lang="en-US" altLang="ko-KR" sz="1800" dirty="0"/>
                  <a:t>.”</a:t>
                </a:r>
              </a:p>
              <a:p>
                <a:r>
                  <a:rPr lang="en-US" altLang="ko-KR" sz="1800" dirty="0"/>
                  <a:t>(</a:t>
                </a:r>
                <a:r>
                  <a:rPr lang="ko-KR" altLang="en-US" sz="1800" dirty="0"/>
                  <a:t>수식 짚기</a:t>
                </a:r>
                <a:r>
                  <a:rPr lang="en-US" altLang="ko-KR" sz="1800" dirty="0"/>
                  <a:t>)</a:t>
                </a:r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이 식의 의미를 보면</a:t>
                </a:r>
                <a:r>
                  <a:rPr lang="en-US" altLang="ko-KR" sz="1800" dirty="0"/>
                  <a:t>,”</a:t>
                </a:r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분자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∣𝐻(𝑓) ∣^</a:t>
                </a:r>
                <a:r>
                  <a:rPr lang="en-US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𝑆_𝑥𝑥 (𝑓)</a:t>
                </a:r>
                <a:r>
                  <a:rPr lang="ko-KR" altLang="en-US" sz="1800" dirty="0"/>
                  <a:t>는</a:t>
                </a:r>
                <a:br>
                  <a:rPr lang="ko-KR" altLang="en-US" sz="1800" dirty="0"/>
                </a:br>
                <a:r>
                  <a:rPr lang="ko-KR" altLang="en-US" sz="1800" dirty="0"/>
                  <a:t>입력으로부터 </a:t>
                </a:r>
                <a:r>
                  <a:rPr lang="ko-KR" altLang="en-US" sz="1800" b="1" dirty="0"/>
                  <a:t>이론적으로 예측되는 출력 에너지</a:t>
                </a:r>
                <a:r>
                  <a:rPr lang="ko-KR" altLang="en-US" sz="1800" dirty="0"/>
                  <a:t>를 의미하고</a:t>
                </a:r>
                <a:r>
                  <a:rPr lang="en-US" altLang="ko-KR" sz="1800" dirty="0"/>
                  <a:t>,”</a:t>
                </a:r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분모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𝑆_𝑦𝑦 (𝑓)</a:t>
                </a:r>
                <a:r>
                  <a:rPr lang="ko-KR" altLang="en-US" sz="1800" dirty="0"/>
                  <a:t>는</a:t>
                </a:r>
                <a:br>
                  <a:rPr lang="ko-KR" altLang="en-US" sz="1800" dirty="0"/>
                </a:br>
                <a:r>
                  <a:rPr lang="ko-KR" altLang="en-US" sz="1800" b="1" dirty="0"/>
                  <a:t>실제로 측정된 전체 출력 에너지</a:t>
                </a:r>
                <a:r>
                  <a:rPr lang="ko-KR" altLang="en-US" sz="1800" dirty="0"/>
                  <a:t>를 의미합니다</a:t>
                </a:r>
                <a:r>
                  <a:rPr lang="en-US" altLang="ko-KR" sz="1800" dirty="0"/>
                  <a:t>.”</a:t>
                </a:r>
              </a:p>
              <a:p>
                <a:br>
                  <a:rPr lang="en-US" altLang="ko-KR" sz="1800" dirty="0"/>
                </a:br>
                <a:endParaRPr lang="en-US" altLang="ko-KR" sz="1800" dirty="0"/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따라서 </a:t>
                </a:r>
                <a:r>
                  <a:rPr lang="en-US" altLang="ko-KR" sz="1800" dirty="0"/>
                  <a:t>coherence</a:t>
                </a:r>
                <a:r>
                  <a:rPr lang="ko-KR" altLang="en-US" sz="1800" dirty="0"/>
                  <a:t>는</a:t>
                </a:r>
                <a:r>
                  <a:rPr lang="en-US" altLang="ko-KR" sz="1800" dirty="0"/>
                  <a:t>,”</a:t>
                </a:r>
              </a:p>
              <a:p>
                <a:r>
                  <a:rPr lang="ko-KR" altLang="en-US" sz="1800" b="1" dirty="0"/>
                  <a:t>“출력 신호 중에서 입력으로 설명 가능한 비율”</a:t>
                </a:r>
                <a:endParaRPr lang="ko-KR" altLang="en-US" sz="1800" dirty="0"/>
              </a:p>
              <a:p>
                <a:r>
                  <a:rPr lang="ko-KR" altLang="en-US" sz="1800" dirty="0"/>
                  <a:t>“즉</a:t>
                </a:r>
                <a:r>
                  <a:rPr lang="en-US" altLang="ko-KR" sz="1800" dirty="0"/>
                  <a:t>, </a:t>
                </a:r>
                <a:r>
                  <a:rPr lang="ko-KR" altLang="en-US" sz="1800" dirty="0"/>
                  <a:t>입력이 출력에 얼마나 제대로 반영되었는지를 나타내는 지표입니다</a:t>
                </a:r>
                <a:r>
                  <a:rPr lang="en-US" altLang="ko-KR" sz="1800" dirty="0"/>
                  <a:t>.”</a:t>
                </a:r>
              </a:p>
              <a:p>
                <a:br>
                  <a:rPr lang="en-US" altLang="ko-KR" sz="1800" dirty="0"/>
                </a:br>
                <a:endParaRPr lang="en-US" altLang="ko-KR" sz="1800" dirty="0"/>
              </a:p>
              <a:p>
                <a:r>
                  <a:rPr lang="en-US" altLang="ko-KR" sz="1800" dirty="0"/>
                  <a:t>“</a:t>
                </a:r>
                <a:r>
                  <a:rPr lang="ko-KR" altLang="en-US" sz="1800" dirty="0"/>
                  <a:t>이상적인 경우 </a:t>
                </a:r>
                <a:r>
                  <a:rPr lang="en-US" altLang="ko-KR" sz="1800" dirty="0"/>
                  <a:t>coherence</a:t>
                </a:r>
                <a:r>
                  <a:rPr lang="ko-KR" altLang="en-US" sz="1800" dirty="0"/>
                  <a:t>는 </a:t>
                </a:r>
                <a:r>
                  <a:rPr lang="en-US" altLang="ko-KR" sz="1800" dirty="0"/>
                  <a:t>1</a:t>
                </a:r>
                <a:r>
                  <a:rPr lang="ko-KR" altLang="en-US" sz="1800" dirty="0"/>
                  <a:t>이 되지만</a:t>
                </a:r>
                <a:r>
                  <a:rPr lang="en-US" altLang="ko-KR" sz="1800" dirty="0"/>
                  <a:t>,</a:t>
                </a:r>
                <a:br>
                  <a:rPr lang="en-US" altLang="ko-KR" sz="1800" dirty="0"/>
                </a:br>
                <a:r>
                  <a:rPr lang="ko-KR" altLang="en-US" sz="1800" dirty="0"/>
                  <a:t>실제 측정에서는 노이즈나 비선형성 등의 영향으로 값이 감소하게 됩니다</a:t>
                </a:r>
                <a:r>
                  <a:rPr lang="en-US" altLang="ko-KR" sz="1800" dirty="0"/>
                  <a:t>.”</a:t>
                </a:r>
              </a:p>
              <a:p>
                <a:endParaRPr lang="en-US" altLang="ko-KR" sz="1800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46816E-B8DD-53DC-965B-25CF92977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F272-3281-4A42-9B7D-7B3B45CBFEB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880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7D64F-B73E-3D3A-1973-6D2CFE61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75327F-C3A0-8F29-DB2F-28274D1C2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97B672-AA0C-FB12-17E8-DBB9AB292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“앞에서 </a:t>
            </a:r>
            <a:r>
              <a:rPr lang="en-US" altLang="ko-KR" dirty="0"/>
              <a:t>coherence</a:t>
            </a:r>
            <a:r>
              <a:rPr lang="ko-KR" altLang="en-US" dirty="0"/>
              <a:t>를 통해 </a:t>
            </a:r>
            <a:r>
              <a:rPr lang="en-US" altLang="ko-KR" dirty="0"/>
              <a:t>FRF</a:t>
            </a:r>
            <a:r>
              <a:rPr lang="ko-KR" altLang="en-US" dirty="0"/>
              <a:t>의 신뢰도를 확인할 수 있었습니다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그렇다면 여기서 한 가지 더 중요한 문제가 있습니다</a:t>
            </a:r>
            <a:r>
              <a:rPr lang="en-US" altLang="ko-KR" dirty="0"/>
              <a:t>.”</a:t>
            </a:r>
          </a:p>
          <a:p>
            <a:r>
              <a:rPr lang="ko-KR" altLang="en-US" b="1" dirty="0"/>
              <a:t>“</a:t>
            </a:r>
            <a:r>
              <a:rPr lang="en-US" altLang="ko-KR" b="1" dirty="0"/>
              <a:t>FRF</a:t>
            </a:r>
            <a:r>
              <a:rPr lang="ko-KR" altLang="en-US" b="1" dirty="0"/>
              <a:t>를 어떻게 </a:t>
            </a:r>
            <a:r>
              <a:rPr lang="ko-KR" altLang="en-US" b="1" dirty="0" err="1"/>
              <a:t>추정하느냐에</a:t>
            </a:r>
            <a:r>
              <a:rPr lang="ko-KR" altLang="en-US" b="1" dirty="0"/>
              <a:t> 따라서 이 신뢰도가 달라질 수 있습니다</a:t>
            </a:r>
            <a:r>
              <a:rPr lang="en-US" altLang="ko-KR" b="1" dirty="0"/>
              <a:t>.”</a:t>
            </a:r>
            <a:endParaRPr lang="ko-KR" altLang="en-US" dirty="0"/>
          </a:p>
          <a:p>
            <a:r>
              <a:rPr lang="ko-KR" altLang="en-US" dirty="0"/>
              <a:t>“그래서 </a:t>
            </a:r>
            <a:r>
              <a:rPr lang="en-US" altLang="ko-KR" dirty="0"/>
              <a:t>FRF</a:t>
            </a:r>
            <a:r>
              <a:rPr lang="ko-KR" altLang="en-US" dirty="0"/>
              <a:t>를 추정하는 방법이 중요하며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 방법 중 하나가 </a:t>
            </a:r>
            <a:r>
              <a:rPr lang="en-US" altLang="ko-KR" b="1" dirty="0"/>
              <a:t>H1 Estimator</a:t>
            </a:r>
            <a:r>
              <a:rPr lang="ko-KR" altLang="en-US" dirty="0"/>
              <a:t>입니다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“이 그래프는 동일한 주파수에서 여러 번 측정한 입력과 출력 데이터를 나타냅니다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점들이 흩어지는 이유는 노이즈 때문이며</a:t>
            </a:r>
            <a:r>
              <a:rPr lang="en-US" altLang="ko-KR" dirty="0"/>
              <a:t>, H1 </a:t>
            </a:r>
            <a:r>
              <a:rPr lang="ko-KR" altLang="en-US" dirty="0"/>
              <a:t>추정기는 입력은 고정하고 출력 방향으로만 보정하여 가장 적절한 기울기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FRF</a:t>
            </a:r>
            <a:r>
              <a:rPr lang="ko-KR" altLang="en-US" dirty="0"/>
              <a:t>를 계산합니다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07F468-318C-F4CD-7702-E13EB9ABD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F272-3281-4A42-9B7D-7B3B45CBFEB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107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B9CC6-AC50-60D2-5FFF-91705E62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F853C4-45A1-313F-5465-68D3D1260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A2A7EA-382F-43F2-E196-F68C9D1BB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1800" b="1" dirty="0"/>
              <a:t>Averaging FRF Measurements</a:t>
            </a:r>
          </a:p>
          <a:p>
            <a:pPr marL="0" indent="0">
              <a:buNone/>
            </a:pPr>
            <a:endParaRPr lang="en-US" altLang="ko-KR" sz="1800" b="1" dirty="0"/>
          </a:p>
          <a:p>
            <a:r>
              <a:rPr lang="en-US" altLang="ko-KR" sz="1200" dirty="0"/>
              <a:t>FRF</a:t>
            </a:r>
            <a:r>
              <a:rPr lang="ko-KR" altLang="en-US" sz="1200" dirty="0"/>
              <a:t>는 측정 조건에 따라 변동이 발생할 수 있음</a:t>
            </a:r>
            <a:endParaRPr lang="en-US" altLang="ko-KR" sz="1200" dirty="0"/>
          </a:p>
          <a:p>
            <a:r>
              <a:rPr lang="ko-KR" altLang="en-US" sz="1200" dirty="0"/>
              <a:t>노이즈 및 가진 </a:t>
            </a:r>
            <a:r>
              <a:rPr lang="ko-KR" altLang="en-US" sz="1200" dirty="0" err="1"/>
              <a:t>불균일로</a:t>
            </a:r>
            <a:r>
              <a:rPr lang="ko-KR" altLang="en-US" sz="1200" dirty="0"/>
              <a:t> 인해 결과의 신뢰도가 낮아질 수 있음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여러 번 측정한 </a:t>
            </a:r>
            <a:r>
              <a:rPr lang="en-US" altLang="ko-KR" sz="1200" dirty="0"/>
              <a:t>FRF</a:t>
            </a:r>
            <a:r>
              <a:rPr lang="ko-KR" altLang="en-US" sz="1200" dirty="0"/>
              <a:t>를 평균하여 노이즈 영향을 줄이고</a:t>
            </a:r>
            <a:r>
              <a:rPr lang="en-US" altLang="ko-KR" sz="1200" dirty="0"/>
              <a:t>, </a:t>
            </a:r>
            <a:r>
              <a:rPr lang="ko-KR" altLang="en-US" sz="1200" dirty="0"/>
              <a:t>신뢰도를 향상시킴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3BE0B6-EA6C-EB0F-B7DE-B54E1F799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F272-3281-4A42-9B7D-7B3B45CBFEB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5848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0072E-14DF-D097-A894-09B499F5B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C9D4D3-6A42-5D9D-84BF-F647B9B7A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6F134C-D06D-A612-2C0D-D6253952B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1800" b="1" dirty="0"/>
              <a:t>Averaging FRF Measurements</a:t>
            </a:r>
          </a:p>
          <a:p>
            <a:pPr marL="0" indent="0">
              <a:buNone/>
            </a:pPr>
            <a:endParaRPr lang="en-US" altLang="ko-KR" sz="1800" b="1" dirty="0"/>
          </a:p>
          <a:p>
            <a:r>
              <a:rPr lang="en-US" altLang="ko-KR" sz="1200" dirty="0"/>
              <a:t>FRF</a:t>
            </a:r>
            <a:r>
              <a:rPr lang="ko-KR" altLang="en-US" sz="1200" dirty="0"/>
              <a:t>는 측정 조건에 따라 변동이 발생할 수 있음</a:t>
            </a:r>
            <a:endParaRPr lang="en-US" altLang="ko-KR" sz="1200" dirty="0"/>
          </a:p>
          <a:p>
            <a:r>
              <a:rPr lang="ko-KR" altLang="en-US" sz="1200" dirty="0"/>
              <a:t>노이즈 및 가진 </a:t>
            </a:r>
            <a:r>
              <a:rPr lang="ko-KR" altLang="en-US" sz="1200" dirty="0" err="1"/>
              <a:t>불균일로</a:t>
            </a:r>
            <a:r>
              <a:rPr lang="ko-KR" altLang="en-US" sz="1200" dirty="0"/>
              <a:t> 인해 결과의 신뢰도가 낮아질 수 있음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여러 번 측정한 </a:t>
            </a:r>
            <a:r>
              <a:rPr lang="en-US" altLang="ko-KR" sz="1200" dirty="0"/>
              <a:t>FRF</a:t>
            </a:r>
            <a:r>
              <a:rPr lang="ko-KR" altLang="en-US" sz="1200" dirty="0"/>
              <a:t>를 평균하여 노이즈 영향을 줄이고</a:t>
            </a:r>
            <a:r>
              <a:rPr lang="en-US" altLang="ko-KR" sz="1200" dirty="0"/>
              <a:t>, </a:t>
            </a:r>
            <a:r>
              <a:rPr lang="ko-KR" altLang="en-US" sz="1200" dirty="0"/>
              <a:t>신뢰도를 향상시킴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0455BA-A575-F497-4C16-3A400824E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F272-3281-4A42-9B7D-7B3B45CBFEB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747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FF25B-736E-E80A-0300-E1E0BB4D2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60EB76-ABC5-79DC-2F6D-C8ECAC633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43D0EE-EFFB-91B0-BABD-822A8B343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1800" b="1" dirty="0"/>
              <a:t>Averaging FRF Measurements</a:t>
            </a:r>
          </a:p>
          <a:p>
            <a:pPr marL="0" indent="0">
              <a:buNone/>
            </a:pPr>
            <a:endParaRPr lang="en-US" altLang="ko-KR" sz="1800" b="1" dirty="0"/>
          </a:p>
          <a:p>
            <a:r>
              <a:rPr lang="en-US" altLang="ko-KR" sz="1200" dirty="0"/>
              <a:t>FRF</a:t>
            </a:r>
            <a:r>
              <a:rPr lang="ko-KR" altLang="en-US" sz="1200" dirty="0"/>
              <a:t>는 측정 조건에 따라 변동이 발생할 수 있음</a:t>
            </a:r>
            <a:endParaRPr lang="en-US" altLang="ko-KR" sz="1200" dirty="0"/>
          </a:p>
          <a:p>
            <a:r>
              <a:rPr lang="ko-KR" altLang="en-US" sz="1200" dirty="0"/>
              <a:t>노이즈 및 가진 </a:t>
            </a:r>
            <a:r>
              <a:rPr lang="ko-KR" altLang="en-US" sz="1200" dirty="0" err="1"/>
              <a:t>불균일로</a:t>
            </a:r>
            <a:r>
              <a:rPr lang="ko-KR" altLang="en-US" sz="1200" dirty="0"/>
              <a:t> 인해 결과의 신뢰도가 낮아질 수 있음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여러 번 측정한 </a:t>
            </a:r>
            <a:r>
              <a:rPr lang="en-US" altLang="ko-KR" sz="1200" dirty="0"/>
              <a:t>FRF</a:t>
            </a:r>
            <a:r>
              <a:rPr lang="ko-KR" altLang="en-US" sz="1200" dirty="0"/>
              <a:t>를 평균하여 노이즈 영향을 줄이고</a:t>
            </a:r>
            <a:r>
              <a:rPr lang="en-US" altLang="ko-KR" sz="1200" dirty="0"/>
              <a:t>, </a:t>
            </a:r>
            <a:r>
              <a:rPr lang="ko-KR" altLang="en-US" sz="1200" dirty="0"/>
              <a:t>신뢰도를 향상시킴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517D96-B29B-4279-8C80-58F5057FC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F272-3281-4A42-9B7D-7B3B45CBFEB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013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964E1-EACE-DFCD-6A1D-EE3F07E10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8729D77-B3E9-933B-894F-A1D5ADCE2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676490-AFA8-6CF9-761C-56B783D70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74A13-0119-4AE1-BC62-116745700EBE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CDAAFB-98B4-93A6-EE4D-13F945F00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C5980E-27EA-85F4-8056-2A1EB1904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74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69EBE-550A-28F9-D507-A30E475E2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460AD6-9345-7360-E73A-8D2602BED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7B7A58-FED8-3541-28FF-CAD3F1264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321F1-DF97-419C-ADF2-C86B2FD139BD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C77E0C-EE89-0AC0-1820-1950F8281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A8119-2360-E15C-DB84-6F709FAF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351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01DF6A-D968-CD5F-E226-F46841F3E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68983A-5A39-999D-823F-205DCE51D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19194E-68F4-83EF-7022-BF2404063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C3F89-5CAF-4F38-BF90-A57A56C8D222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A027CA-A8B2-5F1D-0860-9E6B29FD2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3E9E41-42FB-34C5-94A0-E36EC9255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793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6766D2-AD43-21F4-FF75-CED13B2C2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3332B4-98F1-B6BC-4545-61FBDA862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09ADE6-C1BE-0823-FCB3-FAFD5B772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FB92FD-1BD4-7F21-EAA9-731CF4DB2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351EC-14CA-4E62-A483-919DD15F320B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DA00DF-6AFF-452F-52DB-5341A9F03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48842B-D24D-0F38-B3A2-9C6F4F5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326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7DAC9-2ACE-0C2D-2E0B-F79B7CD74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3D1EC4-631E-6AD3-E378-C76EAD2D2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1C8AF5-868A-1156-F6A0-037F7A7C3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B9C01B-0B39-BA47-B6CF-CBF2F04C3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C3A5863-EA61-96DE-4C3D-8C0F2FC20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16F54E2-A475-CC03-8ABE-0BD10CE0D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30CBE-585E-4D26-B9AA-1A9212012544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6E0B1C-5B42-8151-956E-9620D756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F56F6A-F396-901B-8F28-090BA0DC4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8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E7491-6B6C-C3F8-227E-42D50E626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70697A-8169-BC9E-EAFD-CBA5F27B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F16E2-443B-41A7-B528-58FB7154A584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19361F-1459-DFDE-E951-EB60C8A15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6F0205-B73B-7159-4B49-5DAAACBB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53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A3DFF65-5F4B-9D2C-2E58-CB981E167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862B9-C07F-4B49-BBFB-471974B3CA89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40EAAC5-D908-BBE5-6EC2-D3F9988F5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20B191-798A-CAF2-6A6E-9651EF0F5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01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EFFA21-045B-42E2-C0CE-899C52BB2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E7E020-E74A-6F05-1D9F-3E5DE94B1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97F3F2-C080-5099-D357-DA171FA1B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5F6F42-79F3-83F3-DF60-774760930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EBD45-EF15-47CD-8307-72ECC83B07B7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A8F69D-536C-B9CA-C7CF-1E83944B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A4313F-3391-7FEF-0AF0-C3B770CE7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56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E41A17-E1C0-0273-53C3-5807008F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96A193-7971-D12D-72B4-6A4F7427B5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AD4776-C8E7-0BFB-6D01-26409B4FE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97B92A-7D64-5ACB-5490-D4E6689E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AD896-7580-4989-B2D9-EF3B56B9469A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8C44A9-666A-B67D-4509-483E773F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710E44-1986-2CE9-AB5A-AC322555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08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16209B-4079-BF26-6327-5DAAC3471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155A66-2524-9CCF-F1B3-AC810F14F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6226C-E162-4878-A394-83C88B1D9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1463A-3B05-4383-AE84-7F7ACE59D527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E6D556-9C11-9DF7-618E-44312DC0E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38415A-B1ED-DF2E-33C0-FB3496125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718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5DFE6D-CD69-D260-A531-82CADD08D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2A5365-31EF-1D89-26B3-DDB58CF0B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A92DB9-EFD0-B034-5C1C-C11492A1F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217A-7243-4DDB-B371-D7A376979BA9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2BB452-2015-2675-75AF-42B88BEF9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9048DD-EB10-6504-3C06-7FE6D4EEE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58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C7F55F0-9567-4947-4DF5-6562C1BAE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F1B4E5-5497-4F08-1922-8076F01FA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686BD1-180A-6F64-98B7-BBB9FC66C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950D4-7DA2-4846-9570-8A33BF7B8AA4}" type="datetime1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48E641-B529-544A-F4F7-92F9164B4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9211E2-0544-D5FA-675A-E461316D2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B71E6-49E2-4417-AA26-214AE2CEF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14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0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37.png"/><Relationship Id="rId4" Type="http://schemas.openxmlformats.org/officeDocument/2006/relationships/image" Target="../media/image5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A4E2728-EA66-FA74-6C41-2A13693DC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242" y="829013"/>
            <a:ext cx="5061511" cy="519997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2C93D1D-B1F0-A13B-136A-6D9E304DB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042" y="1714076"/>
            <a:ext cx="11101916" cy="2169932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실험적 </a:t>
            </a:r>
            <a:r>
              <a:rPr lang="en-US" altLang="ko-KR" sz="4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FRF </a:t>
            </a:r>
            <a:r>
              <a:rPr lang="ko-KR" altLang="en-US" sz="4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측정 및 추정 기법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B51B31-9686-81BB-AC74-51F16BADEF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2266" y="4907757"/>
            <a:ext cx="9144000" cy="1655762"/>
          </a:xfrm>
        </p:spPr>
        <p:txBody>
          <a:bodyPr>
            <a:normAutofit fontScale="77500" lnSpcReduction="20000"/>
          </a:bodyPr>
          <a:lstStyle/>
          <a:p>
            <a:pPr algn="r"/>
            <a:endParaRPr lang="en-US" altLang="ko-KR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r"/>
            <a:r>
              <a:rPr lang="en-US" altLang="ko-KR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Hankyong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 National University</a:t>
            </a:r>
          </a:p>
          <a:p>
            <a:pPr algn="r"/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Applied Modeling and Simulation Lab (AMAS)</a:t>
            </a:r>
          </a:p>
          <a:p>
            <a:pPr algn="r"/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Presenter: Gyeong Ho Min</a:t>
            </a:r>
          </a:p>
          <a:p>
            <a:pPr algn="r"/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Adviser: Un Chang Jeoung</a:t>
            </a:r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7084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402F6-AA65-6AA8-70D2-A5B3F85A4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63C81-1EDE-B90D-6FD9-7ECCFB9AB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29"/>
          </a:xfrm>
        </p:spPr>
        <p:txBody>
          <a:bodyPr>
            <a:noAutofit/>
          </a:bodyPr>
          <a:lstStyle/>
          <a:p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목차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8241A0D-4645-AFB4-6C43-52BA2322EC48}"/>
              </a:ext>
            </a:extLst>
          </p:cNvPr>
          <p:cNvCxnSpPr>
            <a:cxnSpLocks/>
          </p:cNvCxnSpPr>
          <p:nvPr/>
        </p:nvCxnSpPr>
        <p:spPr>
          <a:xfrm>
            <a:off x="766618" y="803563"/>
            <a:ext cx="108619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B9CC771-AEFC-7575-E3A1-0FC493469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2160"/>
            <a:ext cx="10515600" cy="47355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1. </a:t>
            </a:r>
            <a:r>
              <a:rPr lang="ko-KR" altLang="en-US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측정 유형 및 장비</a:t>
            </a:r>
            <a:endParaRPr lang="en-US" altLang="ko-KR" sz="18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 Input Force </a:t>
            </a:r>
            <a:r>
              <a:rPr lang="ko-KR" altLang="en-US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분석</a:t>
            </a:r>
            <a:endParaRPr lang="en-US" altLang="ko-KR" sz="18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3. </a:t>
            </a:r>
            <a:r>
              <a:rPr lang="ko-KR" altLang="en-US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이론적 </a:t>
            </a: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FRF, </a:t>
            </a:r>
            <a:r>
              <a:rPr lang="ko-KR" altLang="en-US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실험적 </a:t>
            </a: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FRF</a:t>
            </a:r>
          </a:p>
          <a:p>
            <a:pPr marL="0" indent="0">
              <a:buNone/>
            </a:pP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	3.1 </a:t>
            </a:r>
            <a:r>
              <a:rPr lang="en-US" altLang="ko-KR" sz="180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Crosspower</a:t>
            </a: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en-US" altLang="ko-KR" sz="180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Autopower</a:t>
            </a: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Formulation</a:t>
            </a:r>
          </a:p>
          <a:p>
            <a:pPr marL="0" indent="0">
              <a:buNone/>
            </a:pP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	3.2 </a:t>
            </a:r>
            <a:r>
              <a:rPr lang="ko-KR" altLang="en-US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실험적 </a:t>
            </a: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FRF </a:t>
            </a:r>
            <a:r>
              <a:rPr lang="ko-KR" altLang="en-US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유도과정</a:t>
            </a: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marL="0" indent="0">
              <a:buNone/>
            </a:pP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ko-KR" altLang="en-US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허수 </a:t>
            </a: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(imaginary) FRF</a:t>
            </a:r>
            <a:r>
              <a:rPr lang="ko-KR" altLang="en-US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Mode shape</a:t>
            </a:r>
          </a:p>
          <a:p>
            <a:pPr marL="0" indent="0">
              <a:buNone/>
            </a:pP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	4.1 Example</a:t>
            </a:r>
          </a:p>
          <a:p>
            <a:pPr marL="0" indent="0">
              <a:buNone/>
            </a:pP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5. Coherence</a:t>
            </a:r>
          </a:p>
          <a:p>
            <a:pPr marL="0" indent="0">
              <a:buNone/>
            </a:pP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6. FRF Estimation</a:t>
            </a:r>
          </a:p>
          <a:p>
            <a:pPr marL="0" indent="0">
              <a:buNone/>
            </a:pP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	6.1 FRF Estimation : H1 Estimator</a:t>
            </a:r>
          </a:p>
          <a:p>
            <a:pPr marL="0" indent="0">
              <a:buNone/>
            </a:pP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	6.2 FRF Estimation: H2 Estimator</a:t>
            </a:r>
          </a:p>
          <a:p>
            <a:pPr marL="0" indent="0">
              <a:buNone/>
            </a:pPr>
            <a:r>
              <a:rPr lang="en-US" altLang="ko-KR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	6.3 FRF Estimation: HV Estimator</a:t>
            </a:r>
          </a:p>
          <a:p>
            <a:pPr marL="0" indent="0">
              <a:buNone/>
            </a:pPr>
            <a:r>
              <a:rPr lang="ko-KR" altLang="en-US" sz="18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결론</a:t>
            </a:r>
            <a:endParaRPr lang="en-US" altLang="ko-KR" sz="18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endParaRPr lang="en-US" altLang="ko-KR" sz="24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endParaRPr lang="en-US" altLang="ko-KR" sz="24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endParaRPr lang="en-US" altLang="ko-KR" sz="24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457200" indent="-457200">
              <a:buAutoNum type="arabicPeriod"/>
            </a:pPr>
            <a:endParaRPr lang="ko-KR" altLang="en-US" sz="2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4C69E83F-1576-F2E9-8AB3-5DD5B89A4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367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2CAFF-1033-B97E-31FB-DF15796F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827C5-C7F1-DC24-A749-1740786F5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29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1. </a:t>
            </a:r>
            <a:r>
              <a:rPr lang="ko-KR" altLang="en-US" sz="2000" b="1" dirty="0"/>
              <a:t>측정 유형 및 장비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C81CDCD-28D0-AD16-7980-9A6C6B5E32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436287"/>
              </p:ext>
            </p:extLst>
          </p:nvPr>
        </p:nvGraphicFramePr>
        <p:xfrm>
          <a:off x="862940" y="1237597"/>
          <a:ext cx="10669320" cy="26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439">
                  <a:extLst>
                    <a:ext uri="{9D8B030D-6E8A-4147-A177-3AD203B41FA5}">
                      <a16:colId xmlns:a16="http://schemas.microsoft.com/office/drawing/2014/main" val="949136384"/>
                    </a:ext>
                  </a:extLst>
                </a:gridCol>
                <a:gridCol w="2632357">
                  <a:extLst>
                    <a:ext uri="{9D8B030D-6E8A-4147-A177-3AD203B41FA5}">
                      <a16:colId xmlns:a16="http://schemas.microsoft.com/office/drawing/2014/main" val="1588906325"/>
                    </a:ext>
                  </a:extLst>
                </a:gridCol>
                <a:gridCol w="4480524">
                  <a:extLst>
                    <a:ext uri="{9D8B030D-6E8A-4147-A177-3AD203B41FA5}">
                      <a16:colId xmlns:a16="http://schemas.microsoft.com/office/drawing/2014/main" val="890063552"/>
                    </a:ext>
                  </a:extLst>
                </a:gridCol>
              </a:tblGrid>
              <a:tr h="3197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시스템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입력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출력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435732"/>
                  </a:ext>
                </a:extLst>
              </a:tr>
              <a:tr h="559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i="0" kern="1200" dirty="0">
                          <a:solidFill>
                            <a:schemeClr val="tx1"/>
                          </a:solidFill>
                          <a:effectLst/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Mechanical Systems</a:t>
                      </a:r>
                      <a:endParaRPr lang="ko-KR" altLang="en-US" b="1" i="0" dirty="0">
                        <a:solidFill>
                          <a:schemeClr val="tx1"/>
                        </a:solidFill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i="0" kern="1200" dirty="0">
                          <a:solidFill>
                            <a:schemeClr val="tx1"/>
                          </a:solidFill>
                          <a:effectLst/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Newtons</a:t>
                      </a:r>
                      <a:endParaRPr lang="ko-KR" altLang="en-US" b="1" i="0" dirty="0">
                        <a:solidFill>
                          <a:schemeClr val="tx1"/>
                        </a:solidFill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i="0" kern="1200" dirty="0">
                          <a:solidFill>
                            <a:schemeClr val="tx1"/>
                          </a:solidFill>
                          <a:effectLst/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Acceleration (g's), Velocity (m/s) or Displacement (meter)</a:t>
                      </a:r>
                      <a:endParaRPr lang="ko-KR" altLang="en-US" b="1" i="0" dirty="0">
                        <a:solidFill>
                          <a:schemeClr val="tx1"/>
                        </a:solidFill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367427"/>
                  </a:ext>
                </a:extLst>
              </a:tr>
              <a:tr h="559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Acoustical Systems</a:t>
                      </a:r>
                      <a:endParaRPr lang="ko-KR" altLang="en-US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Q (Volume Acceleration)</a:t>
                      </a:r>
                      <a:endParaRPr lang="ko-KR" altLang="en-US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Sound Pressure (Pascals)</a:t>
                      </a:r>
                      <a:endParaRPr lang="ko-KR" altLang="en-US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7008074"/>
                  </a:ext>
                </a:extLst>
              </a:tr>
              <a:tr h="559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Combined Acoustic and Mechanical systems</a:t>
                      </a:r>
                      <a:endParaRPr lang="ko-KR" altLang="en-US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  Q or Newtons</a:t>
                      </a:r>
                      <a:endParaRPr lang="ko-KR" altLang="en-US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fr-FR" altLang="ko-KR" sz="1800" b="0" kern="1200" dirty="0">
                          <a:solidFill>
                            <a:schemeClr val="dk1"/>
                          </a:solidFill>
                          <a:effectLst/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Sound Pressure (Pa), Acceleration (g's), etc</a:t>
                      </a:r>
                      <a:endParaRPr lang="ko-KR" altLang="en-US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2039922"/>
                  </a:ext>
                </a:extLst>
              </a:tr>
              <a:tr h="3197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Rotational Mechanical Systems</a:t>
                      </a:r>
                      <a:endParaRPr lang="ko-KR" altLang="en-US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 Torque (Nm)</a:t>
                      </a:r>
                      <a:endParaRPr lang="ko-KR" altLang="en-US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Rotational Displacement (degrees)</a:t>
                      </a:r>
                      <a:endParaRPr lang="ko-KR" altLang="en-US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981727"/>
                  </a:ext>
                </a:extLst>
              </a:tr>
            </a:tbl>
          </a:graphicData>
        </a:graphic>
      </p:graphicFrame>
      <p:pic>
        <p:nvPicPr>
          <p:cNvPr id="9" name="Picture 2" descr="사용자가 추가한 이미지">
            <a:extLst>
              <a:ext uri="{FF2B5EF4-FFF2-40B4-BE49-F238E27FC236}">
                <a16:creationId xmlns:a16="http://schemas.microsoft.com/office/drawing/2014/main" id="{C3B24DD7-CB13-0A7A-8372-34056A71A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425" y="4048628"/>
            <a:ext cx="4524375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218AED1-ACEA-B27F-69C0-937A7C447186}"/>
              </a:ext>
            </a:extLst>
          </p:cNvPr>
          <p:cNvCxnSpPr>
            <a:cxnSpLocks/>
          </p:cNvCxnSpPr>
          <p:nvPr/>
        </p:nvCxnSpPr>
        <p:spPr>
          <a:xfrm>
            <a:off x="766618" y="803563"/>
            <a:ext cx="108619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3326EF5-97AA-69B2-9984-1AA2D6002F4F}"/>
              </a:ext>
            </a:extLst>
          </p:cNvPr>
          <p:cNvSpPr txBox="1"/>
          <p:nvPr/>
        </p:nvSpPr>
        <p:spPr>
          <a:xfrm>
            <a:off x="1898072" y="6565611"/>
            <a:ext cx="8719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</a:rPr>
              <a:t>이미지 출처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</a:rPr>
              <a:t>: https://community.sw.siemens.com/s/article/what-is-a-frequency-response-function-frf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6D6EF-D474-73AB-40CA-CDD729892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059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4CEC0-27FD-4093-5E59-81214E32B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BB56A-95BA-9093-1640-3EF05BC2E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29"/>
          </a:xfrm>
        </p:spPr>
        <p:txBody>
          <a:bodyPr>
            <a:no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 Input Force 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분석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D1DF034-993D-D694-0083-25D7871E6270}"/>
              </a:ext>
            </a:extLst>
          </p:cNvPr>
          <p:cNvCxnSpPr>
            <a:cxnSpLocks/>
          </p:cNvCxnSpPr>
          <p:nvPr/>
        </p:nvCxnSpPr>
        <p:spPr>
          <a:xfrm>
            <a:off x="766618" y="803563"/>
            <a:ext cx="108619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내용 개체 틀 5">
            <a:extLst>
              <a:ext uri="{FF2B5EF4-FFF2-40B4-BE49-F238E27FC236}">
                <a16:creationId xmlns:a16="http://schemas.microsoft.com/office/drawing/2014/main" id="{4FCEF26A-5B2C-6029-0121-4E807A32F0F2}"/>
              </a:ext>
            </a:extLst>
          </p:cNvPr>
          <p:cNvSpPr txBox="1">
            <a:spLocks/>
          </p:cNvSpPr>
          <p:nvPr/>
        </p:nvSpPr>
        <p:spPr>
          <a:xfrm>
            <a:off x="794657" y="1194800"/>
            <a:ext cx="5143427" cy="431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5BE8F6-9FD2-26BF-8E37-A8E84DB8A4A1}"/>
              </a:ext>
            </a:extLst>
          </p:cNvPr>
          <p:cNvSpPr txBox="1"/>
          <p:nvPr/>
        </p:nvSpPr>
        <p:spPr>
          <a:xfrm>
            <a:off x="1898072" y="6565611"/>
            <a:ext cx="8719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이미지 출처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https://community.sw.siemens.com/s/article/what-is-a-frequency-response-function-frf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2AB9250-1C5F-D943-C9D9-5300ABEFA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5115"/>
            <a:ext cx="5257800" cy="47060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FRF 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측정 조건</a:t>
            </a:r>
            <a:endParaRPr lang="en-US" altLang="ko-KR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endParaRPr lang="ko-KR" altLang="en-US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짧고 빠른 </a:t>
            </a:r>
            <a:r>
              <a:rPr lang="ko-KR" altLang="en-US" sz="1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임펄스를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가진</a:t>
            </a:r>
            <a:endParaRPr lang="en-US" altLang="ko-KR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입력 스펙트럼은 광범위한 주파수 대역에 걸쳐 균일하고 평탄하게 나타남</a:t>
            </a:r>
            <a:endParaRPr lang="en-US" altLang="ko-KR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임팩트 해머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원하는 주파수에서 평탄한 입력 확보를 위해 팁의 강성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질량 중요</a:t>
            </a:r>
          </a:p>
        </p:txBody>
      </p:sp>
      <p:pic>
        <p:nvPicPr>
          <p:cNvPr id="9" name="Picture 2" descr="사용자가 추가한 이미지">
            <a:extLst>
              <a:ext uri="{FF2B5EF4-FFF2-40B4-BE49-F238E27FC236}">
                <a16:creationId xmlns:a16="http://schemas.microsoft.com/office/drawing/2014/main" id="{18339FF1-DCA3-331C-C47F-328A6E0E4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513" y="1597890"/>
            <a:ext cx="3416686" cy="4456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0F1D9-AF7E-8CA6-0DED-E2159CEC3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83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84E5E-4400-2ACF-43CB-13BCCB677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37217-9444-62BB-05D4-964AF6484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29"/>
          </a:xfrm>
        </p:spPr>
        <p:txBody>
          <a:bodyPr>
            <a:no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3. 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이론적 </a:t>
            </a: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FRF, 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실험적 </a:t>
            </a: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FRF</a:t>
            </a:r>
            <a:endParaRPr lang="ko-KR" altLang="en-US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7F0D7FD-EED1-C6BF-57E4-24044F98A3F9}"/>
              </a:ext>
            </a:extLst>
          </p:cNvPr>
          <p:cNvCxnSpPr>
            <a:cxnSpLocks/>
          </p:cNvCxnSpPr>
          <p:nvPr/>
        </p:nvCxnSpPr>
        <p:spPr>
          <a:xfrm>
            <a:off x="766618" y="803563"/>
            <a:ext cx="108619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내용 개체 틀 5">
            <a:extLst>
              <a:ext uri="{FF2B5EF4-FFF2-40B4-BE49-F238E27FC236}">
                <a16:creationId xmlns:a16="http://schemas.microsoft.com/office/drawing/2014/main" id="{A7D840CC-B113-5CB8-FBEE-771CF7FAE2E5}"/>
              </a:ext>
            </a:extLst>
          </p:cNvPr>
          <p:cNvSpPr txBox="1">
            <a:spLocks/>
          </p:cNvSpPr>
          <p:nvPr/>
        </p:nvSpPr>
        <p:spPr>
          <a:xfrm>
            <a:off x="6139542" y="127698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실험적 </a:t>
            </a: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FRF</a:t>
            </a:r>
          </a:p>
          <a:p>
            <a:pPr marL="0" indent="0">
              <a:buNone/>
            </a:pPr>
            <a:endParaRPr lang="en-US" altLang="ko-KR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입력의 </a:t>
            </a:r>
            <a:r>
              <a:rPr lang="en-US" altLang="ko-KR" sz="14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Autopower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입력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출력의 </a:t>
            </a:r>
            <a:r>
              <a:rPr lang="en-US" altLang="ko-KR" sz="14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Crosspower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함께 사용</a:t>
            </a: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endParaRPr lang="en-US" altLang="ko-KR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F8B75D5-6F84-6B6F-23E1-9B11B2901341}"/>
              </a:ext>
            </a:extLst>
          </p:cNvPr>
          <p:cNvCxnSpPr>
            <a:cxnSpLocks/>
          </p:cNvCxnSpPr>
          <p:nvPr/>
        </p:nvCxnSpPr>
        <p:spPr>
          <a:xfrm flipH="1">
            <a:off x="6095999" y="1981200"/>
            <a:ext cx="1" cy="36471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내용 개체 틀 2">
                <a:extLst>
                  <a:ext uri="{FF2B5EF4-FFF2-40B4-BE49-F238E27FC236}">
                    <a16:creationId xmlns:a16="http://schemas.microsoft.com/office/drawing/2014/main" id="{66306A0C-F0CC-8647-702A-06A950D7B3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5338" y="1276350"/>
                <a:ext cx="5257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ko-KR" altLang="en-US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이론적 </a:t>
                </a: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FRF</a:t>
                </a:r>
              </a:p>
              <a:p>
                <a:pPr marL="0" indent="0">
                  <a:buNone/>
                </a:pPr>
                <a:endParaRPr lang="en-US" altLang="ko-KR" sz="20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FRF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는 일반적으로 단일 대문자 </a:t>
                </a:r>
                <a14:m>
                  <m:oMath xmlns:m="http://schemas.openxmlformats.org/officeDocument/2006/math">
                    <m:r>
                      <a:rPr lang="ko-KR" altLang="en-US" sz="1400" b="1" i="1">
                        <a:latin typeface="Cambria Math" panose="02040503050406030204" pitchFamily="18" charset="0"/>
                      </a:rPr>
                      <m:t>𝑯</m:t>
                    </m:r>
                    <m:r>
                      <a:rPr lang="ko-KR" altLang="en-US" sz="1400" b="1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사용되며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입력은</a:t>
                </a:r>
                <a:r>
                  <a:rPr lang="en-US" altLang="ko-KR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출력은 </a:t>
                </a:r>
                <a14:m>
                  <m:oMath xmlns:m="http://schemas.openxmlformats.org/officeDocument/2006/math">
                    <m:r>
                      <a:rPr lang="en-US" altLang="ko-KR" sz="1400" b="1" i="1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로 표시 </a:t>
                </a: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23" name="내용 개체 틀 2">
                <a:extLst>
                  <a:ext uri="{FF2B5EF4-FFF2-40B4-BE49-F238E27FC236}">
                    <a16:creationId xmlns:a16="http://schemas.microsoft.com/office/drawing/2014/main" id="{66306A0C-F0CC-8647-702A-06A950D7B3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5338" y="1276350"/>
                <a:ext cx="5257800" cy="4351338"/>
              </a:xfrm>
              <a:blipFill>
                <a:blip r:embed="rId3"/>
                <a:stretch>
                  <a:fillRect l="-1159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그룹 23">
            <a:extLst>
              <a:ext uri="{FF2B5EF4-FFF2-40B4-BE49-F238E27FC236}">
                <a16:creationId xmlns:a16="http://schemas.microsoft.com/office/drawing/2014/main" id="{6432D473-8E56-7888-32DC-53D470C11F86}"/>
              </a:ext>
            </a:extLst>
          </p:cNvPr>
          <p:cNvGrpSpPr/>
          <p:nvPr/>
        </p:nvGrpSpPr>
        <p:grpSpPr>
          <a:xfrm>
            <a:off x="7664861" y="3047502"/>
            <a:ext cx="2475346" cy="1677904"/>
            <a:chOff x="7656945" y="4090849"/>
            <a:chExt cx="2475346" cy="167790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5AAE324-E2DB-AC67-CAC2-12B4511BE851}"/>
                </a:ext>
              </a:extLst>
            </p:cNvPr>
            <p:cNvSpPr txBox="1"/>
            <p:nvPr/>
          </p:nvSpPr>
          <p:spPr>
            <a:xfrm>
              <a:off x="7656945" y="5368643"/>
              <a:ext cx="24753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실험적 </a:t>
              </a:r>
              <a:r>
                <a:rPr lang="en-US" altLang="ko-KR" sz="2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FRF</a:t>
              </a:r>
              <a:endPara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6CAC8321-0E4B-E6F5-4292-C0F07914F1EA}"/>
                    </a:ext>
                  </a:extLst>
                </p:cNvPr>
                <p:cNvSpPr/>
                <p:nvPr/>
              </p:nvSpPr>
              <p:spPr>
                <a:xfrm>
                  <a:off x="7656945" y="4090849"/>
                  <a:ext cx="2475346" cy="1277794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ko-KR" altLang="en-US" i="1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ko-KR" altLang="en-US" i="1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 smtClean="0">
                                    <a:ln w="0"/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 smtClean="0">
                                    <a:ln w="0"/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n w="0"/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i="1" smtClean="0">
                                    <a:ln w="0"/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 smtClean="0">
                                    <a:ln w="0"/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ko-KR" altLang="en-US" i="1" smtClean="0">
                                    <a:ln w="0"/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ko-KR" alt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6CAC8321-0E4B-E6F5-4292-C0F07914F1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6945" y="4090849"/>
                  <a:ext cx="2475346" cy="127779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F61A540-F746-EB4C-6908-2E716F4AF541}"/>
              </a:ext>
            </a:extLst>
          </p:cNvPr>
          <p:cNvGrpSpPr/>
          <p:nvPr/>
        </p:nvGrpSpPr>
        <p:grpSpPr>
          <a:xfrm>
            <a:off x="838200" y="5096776"/>
            <a:ext cx="4912944" cy="906424"/>
            <a:chOff x="6197600" y="1810673"/>
            <a:chExt cx="4912944" cy="9064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6D50C5D2-22A8-6A70-8D02-AFE5400450EC}"/>
                    </a:ext>
                  </a:extLst>
                </p:cNvPr>
                <p:cNvSpPr/>
                <p:nvPr/>
              </p:nvSpPr>
              <p:spPr>
                <a:xfrm>
                  <a:off x="7986149" y="1810673"/>
                  <a:ext cx="1379220" cy="50292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oMath>
                    </m:oMathPara>
                  </a14:m>
                  <a:endParaRPr lang="ko-KR" altLang="en-US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6D50C5D2-22A8-6A70-8D02-AFE5400450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6149" y="1810673"/>
                  <a:ext cx="1379220" cy="5029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B6B33FE-F0E4-1FB0-04BC-6DB53B982C94}"/>
                    </a:ext>
                  </a:extLst>
                </p:cNvPr>
                <p:cNvSpPr txBox="1"/>
                <p:nvPr/>
              </p:nvSpPr>
              <p:spPr>
                <a:xfrm>
                  <a:off x="6197600" y="1900810"/>
                  <a:ext cx="7970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𝑿</m:t>
                      </m:r>
                    </m:oMath>
                  </a14:m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(</a:t>
                  </a:r>
                  <a:r>
                    <a:rPr lang="ko-KR" altLang="en-US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입력</a:t>
                  </a:r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)</a:t>
                  </a:r>
                  <a:endParaRPr lang="ko-KR" altLang="en-US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B6B33FE-F0E4-1FB0-04BC-6DB53B982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7600" y="1900810"/>
                  <a:ext cx="797013" cy="307777"/>
                </a:xfrm>
                <a:prstGeom prst="rect">
                  <a:avLst/>
                </a:prstGeom>
                <a:blipFill>
                  <a:blip r:embed="rId6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052CF59-78A6-843A-D6A2-60F696EF6A24}"/>
                    </a:ext>
                  </a:extLst>
                </p:cNvPr>
                <p:cNvSpPr txBox="1"/>
                <p:nvPr/>
              </p:nvSpPr>
              <p:spPr>
                <a:xfrm>
                  <a:off x="10319288" y="1904107"/>
                  <a:ext cx="79125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a14:m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(</a:t>
                  </a:r>
                  <a:r>
                    <a:rPr lang="ko-KR" altLang="en-US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출력</a:t>
                  </a:r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)</a:t>
                  </a:r>
                  <a:endParaRPr lang="ko-KR" altLang="en-US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052CF59-78A6-843A-D6A2-60F696EF6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19288" y="1904107"/>
                  <a:ext cx="791256" cy="307777"/>
                </a:xfrm>
                <a:prstGeom prst="rect">
                  <a:avLst/>
                </a:prstGeom>
                <a:blipFill>
                  <a:blip r:embed="rId7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A860AE3-5B2E-7F47-2F51-5A4C1CA37AB9}"/>
                    </a:ext>
                  </a:extLst>
                </p:cNvPr>
                <p:cNvSpPr txBox="1"/>
                <p:nvPr/>
              </p:nvSpPr>
              <p:spPr>
                <a:xfrm>
                  <a:off x="7586732" y="2409320"/>
                  <a:ext cx="224536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ko-KR" altLang="en-US" sz="1400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ko-KR" altLang="en-US" sz="1400" b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1400" b="1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ko-KR" sz="1400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1400" b="1" i="1">
                          <a:latin typeface="Cambria Math" panose="02040503050406030204" pitchFamily="18" charset="0"/>
                        </a:rPr>
                        <m:t>𝑯</m:t>
                      </m:r>
                    </m:oMath>
                  </a14:m>
                  <a:r>
                    <a:rPr lang="ko-KR" altLang="en-US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는 주파수의 함수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A860AE3-5B2E-7F47-2F51-5A4C1CA37A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6732" y="2409320"/>
                  <a:ext cx="2245364" cy="307777"/>
                </a:xfrm>
                <a:prstGeom prst="rect">
                  <a:avLst/>
                </a:prstGeom>
                <a:blipFill>
                  <a:blip r:embed="rId8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화살표: 오른쪽 31">
              <a:extLst>
                <a:ext uri="{FF2B5EF4-FFF2-40B4-BE49-F238E27FC236}">
                  <a16:creationId xmlns:a16="http://schemas.microsoft.com/office/drawing/2014/main" id="{A3745D64-31A3-12B1-1E9B-65D472637498}"/>
                </a:ext>
              </a:extLst>
            </p:cNvPr>
            <p:cNvSpPr/>
            <p:nvPr/>
          </p:nvSpPr>
          <p:spPr>
            <a:xfrm>
              <a:off x="6936996" y="1997281"/>
              <a:ext cx="993557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33" name="화살표: 오른쪽 32">
              <a:extLst>
                <a:ext uri="{FF2B5EF4-FFF2-40B4-BE49-F238E27FC236}">
                  <a16:creationId xmlns:a16="http://schemas.microsoft.com/office/drawing/2014/main" id="{7ED021AC-DF94-6744-67D5-C55FBA35ACC5}"/>
                </a:ext>
              </a:extLst>
            </p:cNvPr>
            <p:cNvSpPr/>
            <p:nvPr/>
          </p:nvSpPr>
          <p:spPr>
            <a:xfrm>
              <a:off x="9382125" y="2002851"/>
              <a:ext cx="983209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218387C-B379-2C20-B6BA-418EDA39D035}"/>
                </a:ext>
              </a:extLst>
            </p:cNvPr>
            <p:cNvSpPr txBox="1"/>
            <p:nvPr/>
          </p:nvSpPr>
          <p:spPr>
            <a:xfrm>
              <a:off x="10082001" y="2010153"/>
              <a:ext cx="1148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E0D6A26-21DA-E507-429E-8B4D3A19031E}"/>
              </a:ext>
            </a:extLst>
          </p:cNvPr>
          <p:cNvGrpSpPr/>
          <p:nvPr/>
        </p:nvGrpSpPr>
        <p:grpSpPr>
          <a:xfrm>
            <a:off x="2112341" y="3047502"/>
            <a:ext cx="2475346" cy="1677904"/>
            <a:chOff x="7656945" y="4090849"/>
            <a:chExt cx="2475346" cy="167790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A35B033-7D64-18D4-7703-8B4ACE0DECAC}"/>
                </a:ext>
              </a:extLst>
            </p:cNvPr>
            <p:cNvSpPr txBox="1"/>
            <p:nvPr/>
          </p:nvSpPr>
          <p:spPr>
            <a:xfrm>
              <a:off x="7656945" y="5368643"/>
              <a:ext cx="24753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이론적 </a:t>
              </a:r>
              <a:r>
                <a:rPr lang="en-US" altLang="ko-KR" sz="2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FRF</a:t>
              </a:r>
              <a:endPara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FCF5B23B-532E-DFEC-5B83-527FD779909D}"/>
                    </a:ext>
                  </a:extLst>
                </p:cNvPr>
                <p:cNvSpPr/>
                <p:nvPr/>
              </p:nvSpPr>
              <p:spPr>
                <a:xfrm>
                  <a:off x="7656945" y="4090849"/>
                  <a:ext cx="2475346" cy="1277794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ko-KR" altLang="en-US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ko-KR" alt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num>
                          <m:den>
                            <m:r>
                              <a:rPr lang="ko-KR" altLang="en-US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den>
                        </m:f>
                      </m:oMath>
                    </m:oMathPara>
                  </a14:m>
                  <a:endParaRPr lang="ko-KR" altLang="en-US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FCF5B23B-532E-DFEC-5B83-527FD77990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6945" y="4090849"/>
                  <a:ext cx="2475346" cy="127779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649CBD-8BEA-C3D1-657D-C4E50B28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465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C44BA-D5ED-F61D-B8EE-86365AD06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690AB2-3716-D356-F9A1-EA087A57C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29"/>
          </a:xfrm>
        </p:spPr>
        <p:txBody>
          <a:bodyPr>
            <a:no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3.1 </a:t>
            </a:r>
            <a:r>
              <a:rPr lang="en-US" altLang="ko-KR" sz="200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Crosspower</a:t>
            </a: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en-US" altLang="ko-KR" sz="200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Autopower</a:t>
            </a: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Formulation </a:t>
            </a:r>
            <a:endParaRPr lang="ko-KR" altLang="en-US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9625E5F-3A29-69D3-8598-ACEFDD808F49}"/>
              </a:ext>
            </a:extLst>
          </p:cNvPr>
          <p:cNvCxnSpPr>
            <a:cxnSpLocks/>
          </p:cNvCxnSpPr>
          <p:nvPr/>
        </p:nvCxnSpPr>
        <p:spPr>
          <a:xfrm>
            <a:off x="766618" y="803563"/>
            <a:ext cx="108619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5">
                <a:extLst>
                  <a:ext uri="{FF2B5EF4-FFF2-40B4-BE49-F238E27FC236}">
                    <a16:creationId xmlns:a16="http://schemas.microsoft.com/office/drawing/2014/main" id="{16720080-A8FF-1051-26AA-E1B8B89A1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4658" y="1276985"/>
                <a:ext cx="52578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What is </a:t>
                </a:r>
                <a:r>
                  <a:rPr lang="en-US" altLang="ko-KR" sz="2000" b="1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Crosspower</a:t>
                </a: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? </a:t>
                </a:r>
              </a:p>
              <a:p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크기</a:t>
                </a:r>
                <a:r>
                  <a:rPr lang="en-US" altLang="ko-KR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</a:t>
                </a:r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진폭</a:t>
                </a:r>
                <a:r>
                  <a:rPr lang="en-US" altLang="ko-KR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</a:t>
                </a:r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위상 정보를 모두 포함</a:t>
                </a:r>
                <a:endParaRPr lang="en-US" altLang="ko-KR" sz="16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endParaRPr lang="en-US" altLang="ko-KR" sz="16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/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두 신호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ko-KR" alt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의 푸리에 변환을 각각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ko-KR" alt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</a:t>
                </a:r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라 할 때</a:t>
                </a:r>
                <a:r>
                  <a:rPr lang="en-US" altLang="ko-KR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 </a:t>
                </a:r>
                <a:r>
                  <a:rPr lang="en-US" altLang="ko-KR" sz="160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Crosspower</a:t>
                </a:r>
                <a:r>
                  <a:rPr lang="en-US" altLang="ko-KR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spectrum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ko-KR" alt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는 다음과 같이 정의</a:t>
                </a:r>
                <a:endParaRPr lang="en-US" altLang="ko-KR" sz="16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 algn="ctr">
                  <a:buNone/>
                </a:pPr>
                <a:endParaRPr lang="en-US" altLang="ko-KR" sz="1600" i="1" dirty="0">
                  <a:solidFill>
                    <a:srgbClr val="FF0000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ko-KR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ko-KR" altLang="en-US" sz="16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altLang="ko-KR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endParaRPr lang="en-US" altLang="ko-KR" sz="16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입력과 출력이 같은 주파수에서 얼마나 연관되어 있는지 알 수 있음</a:t>
                </a:r>
                <a:endParaRPr lang="en-US" altLang="ko-KR" sz="16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입력과 출력의 크기와 위상 관계를 포함</a:t>
                </a:r>
                <a:r>
                  <a:rPr lang="en-US" altLang="ko-KR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</a:t>
                </a:r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복소수</a:t>
                </a:r>
                <a:r>
                  <a:rPr lang="en-US" altLang="ko-KR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</a:t>
                </a:r>
                <a:endParaRPr lang="ko-KR" altLang="en-US" sz="16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6" name="내용 개체 틀 5">
                <a:extLst>
                  <a:ext uri="{FF2B5EF4-FFF2-40B4-BE49-F238E27FC236}">
                    <a16:creationId xmlns:a16="http://schemas.microsoft.com/office/drawing/2014/main" id="{16720080-A8FF-1051-26AA-E1B8B89A1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4658" y="1276985"/>
                <a:ext cx="5257800" cy="4351338"/>
              </a:xfrm>
              <a:blipFill>
                <a:blip r:embed="rId3"/>
                <a:stretch>
                  <a:fillRect l="-1159" t="-1261" r="-5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5">
                <a:extLst>
                  <a:ext uri="{FF2B5EF4-FFF2-40B4-BE49-F238E27FC236}">
                    <a16:creationId xmlns:a16="http://schemas.microsoft.com/office/drawing/2014/main" id="{D27A7262-A377-E92F-58F5-B77FFC3EC3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9542" y="1276985"/>
                <a:ext cx="52578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What is </a:t>
                </a:r>
                <a:r>
                  <a:rPr lang="en-US" altLang="ko-KR" sz="2000" b="1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Autopower</a:t>
                </a: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? </a:t>
                </a:r>
              </a:p>
              <a:p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위상 정보가 제거되고</a:t>
                </a:r>
                <a:r>
                  <a:rPr lang="en-US" altLang="ko-KR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</a:t>
                </a:r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크기</a:t>
                </a:r>
                <a:r>
                  <a:rPr lang="en-US" altLang="ko-KR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</a:t>
                </a:r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에너지</a:t>
                </a:r>
                <a:r>
                  <a:rPr lang="en-US" altLang="ko-KR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</a:t>
                </a:r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만 남는 실수 값</a:t>
                </a:r>
                <a:endParaRPr lang="en-US" altLang="ko-KR" sz="16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endParaRPr lang="en-US" altLang="ko-KR" sz="16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/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신호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의 푸리에 변환을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라 할 때</a:t>
                </a:r>
                <a:r>
                  <a:rPr lang="en-US" altLang="ko-KR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en-US" altLang="ko-KR" sz="160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Autopower</a:t>
                </a:r>
                <a:r>
                  <a:rPr lang="en-US" altLang="ko-KR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spectrum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는 다음과 같이 정의</a:t>
                </a:r>
                <a:endParaRPr lang="en-US" altLang="ko-KR" sz="16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>
                  <a:lnSpc>
                    <a:spcPct val="0"/>
                  </a:lnSpc>
                </a:pPr>
                <a:endParaRPr lang="en-US" altLang="ko-KR" sz="1600" dirty="0">
                  <a:solidFill>
                    <a:schemeClr val="bg1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:endParaRPr lang="en-US" altLang="ko-KR" sz="1600" i="1" dirty="0">
                  <a:solidFill>
                    <a:srgbClr val="FF0000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ko-KR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ko-KR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ko-KR" altLang="en-US" sz="16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ko-KR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sSup>
                        <m:sSupPr>
                          <m:ctrlPr>
                            <a:rPr lang="en-US" altLang="ko-K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16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ko-KR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altLang="ko-KR" sz="16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 algn="ctr">
                  <a:buNone/>
                </a:pPr>
                <a:endParaRPr lang="en-US" altLang="ko-KR" sz="16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 이를 통해 신호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ko-KR" altLang="en-US" sz="16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 각 주파수 성분의 에너지 분포를 나타냄</a:t>
                </a:r>
                <a:endParaRPr lang="en-US" altLang="ko-KR" sz="16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8" name="내용 개체 틀 5">
                <a:extLst>
                  <a:ext uri="{FF2B5EF4-FFF2-40B4-BE49-F238E27FC236}">
                    <a16:creationId xmlns:a16="http://schemas.microsoft.com/office/drawing/2014/main" id="{D27A7262-A377-E92F-58F5-B77FFC3EC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542" y="1276985"/>
                <a:ext cx="5257800" cy="4351338"/>
              </a:xfrm>
              <a:prstGeom prst="rect">
                <a:avLst/>
              </a:prstGeom>
              <a:blipFill>
                <a:blip r:embed="rId4"/>
                <a:stretch>
                  <a:fillRect l="-1159" t="-1261" r="-5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E151549-36C4-B62C-9F5E-F346F2AC6F84}"/>
              </a:ext>
            </a:extLst>
          </p:cNvPr>
          <p:cNvCxnSpPr>
            <a:cxnSpLocks/>
          </p:cNvCxnSpPr>
          <p:nvPr/>
        </p:nvCxnSpPr>
        <p:spPr>
          <a:xfrm flipH="1">
            <a:off x="6095999" y="1981200"/>
            <a:ext cx="1" cy="36471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A60794-2E52-FE80-FDB3-F2DC0938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95DCC1-2CE2-5AF7-3135-6B375EE09E15}"/>
                  </a:ext>
                </a:extLst>
              </p:cNvPr>
              <p:cNvSpPr txBox="1"/>
              <p:nvPr/>
            </p:nvSpPr>
            <p:spPr>
              <a:xfrm>
                <a:off x="4617421" y="5788107"/>
                <a:ext cx="2957156" cy="5018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1600" b="0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IF)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ko-KR" alt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1600" dirty="0">
                    <a:solidFill>
                      <a:srgbClr val="FF0000"/>
                    </a:solidFill>
                  </a:rPr>
                  <a:t> 켤레 복소수를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altLang="ko-KR" sz="160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ko-K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ko-KR" alt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1600" dirty="0">
                    <a:solidFill>
                      <a:srgbClr val="FF0000"/>
                    </a:solidFill>
                  </a:rPr>
                  <a:t> 켤레 복소수를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ko-KR" altLang="en-US" sz="16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95DCC1-2CE2-5AF7-3135-6B375EE09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421" y="5788107"/>
                <a:ext cx="2957156" cy="501804"/>
              </a:xfrm>
              <a:prstGeom prst="rect">
                <a:avLst/>
              </a:prstGeom>
              <a:blipFill>
                <a:blip r:embed="rId5"/>
                <a:stretch>
                  <a:fillRect l="-4115" t="-12048" b="-228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30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D860C-EFF3-A777-0127-4F9ECFAB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358CE-1DA7-2CB2-81CB-A4A7391D7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29"/>
          </a:xfrm>
        </p:spPr>
        <p:txBody>
          <a:bodyPr>
            <a:no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3.2 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실험적 </a:t>
            </a: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FRF 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유도과정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C5EE990-72F6-6321-4996-A856D3EE5557}"/>
              </a:ext>
            </a:extLst>
          </p:cNvPr>
          <p:cNvCxnSpPr>
            <a:cxnSpLocks/>
          </p:cNvCxnSpPr>
          <p:nvPr/>
        </p:nvCxnSpPr>
        <p:spPr>
          <a:xfrm>
            <a:off x="766618" y="803563"/>
            <a:ext cx="108619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6616C4-F5E3-28B9-CB45-D852293EB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58" y="1276985"/>
            <a:ext cx="5257800" cy="4351338"/>
          </a:xfrm>
        </p:spPr>
        <p:txBody>
          <a:bodyPr/>
          <a:lstStyle/>
          <a:p>
            <a:pPr marL="0" indent="0">
              <a:buNone/>
            </a:pPr>
            <a:endParaRPr lang="en-US" altLang="ko-KR" sz="20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실험적 </a:t>
            </a: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FRF</a:t>
            </a:r>
          </a:p>
          <a:p>
            <a:pPr marL="0" indent="0">
              <a:buNone/>
            </a:pPr>
            <a:endParaRPr lang="en-US" altLang="ko-KR" sz="16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5">
                <a:extLst>
                  <a:ext uri="{FF2B5EF4-FFF2-40B4-BE49-F238E27FC236}">
                    <a16:creationId xmlns:a16="http://schemas.microsoft.com/office/drawing/2014/main" id="{B161B452-D6B5-245B-1078-BE394638E5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9542" y="1276985"/>
                <a:ext cx="52578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endParaRPr lang="en-US" altLang="ko-KR" sz="20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ko-KR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sup>
                      </m:sSup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</m:t>
                      </m:r>
                      <m:r>
                        <a:rPr lang="en-US" altLang="ko-KR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ko-KR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sup>
                      </m:sSup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ko-KR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sup>
                      </m:sSup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altLang="ko-KR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ko-KR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d>
                        <m:dPr>
                          <m:ctrlPr>
                            <a:rPr lang="ko-KR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(∅</m:t>
                              </m:r>
                            </m:e>
                            <m:sub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d>
                        <m:dPr>
                          <m:ctrlPr>
                            <a:rPr lang="ko-KR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(∅</m:t>
                              </m:r>
                            </m:e>
                            <m:sub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ko-KR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altLang="ko-KR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sz="2000" i="1" dirty="0">
                  <a:solidFill>
                    <a:srgbClr val="FF0000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ko-KR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𝒙𝒚</m:t>
                              </m:r>
                            </m:sub>
                          </m:sSub>
                          <m:d>
                            <m:dPr>
                              <m:ctrlPr>
                                <a:rPr lang="ko-KR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ko-K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𝒙𝒙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d>
                        </m:den>
                      </m:f>
                      <m:r>
                        <a:rPr lang="en-US" altLang="ko-K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ko-K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ko-K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d>
                                <m:dPr>
                                  <m:ctrlPr>
                                    <a:rPr lang="en-US" altLang="ko-KR" sz="20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∅</m:t>
                                      </m:r>
                                    </m:e>
                                    <m:sub>
                                      <m:r>
                                        <a:rPr lang="en-US" altLang="ko-KR" sz="20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𝒙</m:t>
                                      </m:r>
                                    </m:sub>
                                  </m:sSub>
                                  <m:r>
                                    <a:rPr lang="en-US" altLang="ko-KR" sz="20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20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∅</m:t>
                                      </m:r>
                                    </m:e>
                                    <m:sub>
                                      <m:r>
                                        <a:rPr lang="en-US" altLang="ko-KR" sz="20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𝒚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ko-KR" sz="2000" b="1" i="1" dirty="0">
                  <a:solidFill>
                    <a:srgbClr val="FF0000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n-US" altLang="ko-KR" sz="24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8" name="내용 개체 틀 5">
                <a:extLst>
                  <a:ext uri="{FF2B5EF4-FFF2-40B4-BE49-F238E27FC236}">
                    <a16:creationId xmlns:a16="http://schemas.microsoft.com/office/drawing/2014/main" id="{B161B452-D6B5-245B-1078-BE394638E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542" y="1276985"/>
                <a:ext cx="5257800" cy="4351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C2FF41-000C-2C67-A7BA-D77CC576A194}"/>
                  </a:ext>
                </a:extLst>
              </p:cNvPr>
              <p:cNvSpPr txBox="1"/>
              <p:nvPr/>
            </p:nvSpPr>
            <p:spPr>
              <a:xfrm>
                <a:off x="8434825" y="5581015"/>
                <a:ext cx="1905522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en-US" altLang="ko-KR" sz="1400" i="1" dirty="0">
                  <a:solidFill>
                    <a:srgbClr val="FF0000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sz="1400" dirty="0">
                  <a:solidFill>
                    <a:srgbClr val="FF0000"/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C2FF41-000C-2C67-A7BA-D77CC576A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825" y="5581015"/>
                <a:ext cx="1905522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83EEA7D-4D9B-C2F2-D1E5-1E78C1CCB111}"/>
              </a:ext>
            </a:extLst>
          </p:cNvPr>
          <p:cNvCxnSpPr>
            <a:cxnSpLocks/>
          </p:cNvCxnSpPr>
          <p:nvPr/>
        </p:nvCxnSpPr>
        <p:spPr>
          <a:xfrm flipH="1">
            <a:off x="6095999" y="1981200"/>
            <a:ext cx="1" cy="364712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ABAF31-0B22-5473-89FE-C636C7367DBA}"/>
              </a:ext>
            </a:extLst>
          </p:cNvPr>
          <p:cNvGrpSpPr/>
          <p:nvPr/>
        </p:nvGrpSpPr>
        <p:grpSpPr>
          <a:xfrm>
            <a:off x="1677718" y="2965809"/>
            <a:ext cx="2475346" cy="1677904"/>
            <a:chOff x="7656945" y="4090849"/>
            <a:chExt cx="2475346" cy="16779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6FA85E3-C52B-2996-56CF-767ECCF77CC2}"/>
                </a:ext>
              </a:extLst>
            </p:cNvPr>
            <p:cNvSpPr txBox="1"/>
            <p:nvPr/>
          </p:nvSpPr>
          <p:spPr>
            <a:xfrm>
              <a:off x="7656945" y="5368643"/>
              <a:ext cx="24753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실험적 </a:t>
              </a:r>
              <a:r>
                <a:rPr lang="en-US" altLang="ko-KR" sz="2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FRF</a:t>
              </a:r>
              <a:endPara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1FD64DDC-03F2-D43B-1808-03DEAB72EAA5}"/>
                    </a:ext>
                  </a:extLst>
                </p:cNvPr>
                <p:cNvSpPr/>
                <p:nvPr/>
              </p:nvSpPr>
              <p:spPr>
                <a:xfrm>
                  <a:off x="7656945" y="4090849"/>
                  <a:ext cx="2475346" cy="1277794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ko-KR" altLang="en-US" i="1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ko-KR" altLang="en-US" i="1" smtClean="0">
                                <a:ln w="0"/>
                                <a:solidFill>
                                  <a:schemeClr val="tx1"/>
                                </a:solidFill>
                                <a:effectLst>
                                  <a:outerShdw blurRad="38100" dist="19050" dir="2700000" algn="tl" rotWithShape="0">
                                    <a:schemeClr val="dk1">
                                      <a:alpha val="40000"/>
                                    </a:scheme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i="1" smtClean="0">
                                    <a:ln w="0"/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 smtClean="0">
                                    <a:ln w="0"/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n w="0"/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i="1" smtClean="0">
                                    <a:ln w="0"/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 smtClean="0">
                                    <a:ln w="0"/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ko-KR" altLang="en-US" i="1" smtClean="0">
                                    <a:ln w="0"/>
                                    <a:solidFill>
                                      <a:schemeClr val="tx1"/>
                                    </a:solidFill>
                                    <a:effectLst>
                                      <a:outerShdw blurRad="38100" dist="19050" dir="2700000" algn="tl" rotWithShape="0">
                                        <a:schemeClr val="dk1">
                                          <a:alpha val="40000"/>
                                        </a:scheme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𝑥𝑥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ko-KR" alt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1FD64DDC-03F2-D43B-1808-03DEAB72EA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6945" y="4090849"/>
                  <a:ext cx="2475346" cy="127779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97605-D3C6-90D3-E68F-C220208DE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044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C4DAD-725D-D8CF-5D7D-B9245067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77426-9A78-32A9-B22B-23D08986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29"/>
          </a:xfrm>
        </p:spPr>
        <p:txBody>
          <a:bodyPr>
            <a:no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허수 </a:t>
            </a: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(imaginary) FRF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Mode shape</a:t>
            </a:r>
            <a:endParaRPr lang="ko-KR" altLang="en-US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4837133-6AA1-A7BF-F082-E65B3AF98001}"/>
              </a:ext>
            </a:extLst>
          </p:cNvPr>
          <p:cNvCxnSpPr>
            <a:cxnSpLocks/>
          </p:cNvCxnSpPr>
          <p:nvPr/>
        </p:nvCxnSpPr>
        <p:spPr>
          <a:xfrm>
            <a:off x="766618" y="803563"/>
            <a:ext cx="108619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A07BF1-357C-824D-D3CA-E6C2792A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58" y="1284605"/>
            <a:ext cx="5257800" cy="1684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Real Part,</a:t>
            </a:r>
            <a:r>
              <a:rPr lang="ko-KR" altLang="en-US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Imaginary part</a:t>
            </a:r>
          </a:p>
          <a:p>
            <a:pPr marL="0" indent="0">
              <a:buNone/>
            </a:pPr>
            <a:endParaRPr lang="en-US" altLang="ko-KR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FRF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입력 대비 출력의 주파수 응답을 나타내는 </a:t>
            </a:r>
            <a:r>
              <a:rPr lang="ko-KR" altLang="en-US" sz="14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복소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함수</a:t>
            </a: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진폭과 위상 정보를 포함</a:t>
            </a: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내용 개체 틀 5">
            <a:extLst>
              <a:ext uri="{FF2B5EF4-FFF2-40B4-BE49-F238E27FC236}">
                <a16:creationId xmlns:a16="http://schemas.microsoft.com/office/drawing/2014/main" id="{D51C6931-5B58-B11C-F461-60CABC72A9BF}"/>
              </a:ext>
            </a:extLst>
          </p:cNvPr>
          <p:cNvSpPr txBox="1">
            <a:spLocks/>
          </p:cNvSpPr>
          <p:nvPr/>
        </p:nvSpPr>
        <p:spPr>
          <a:xfrm>
            <a:off x="6253842" y="128460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Imaginary FRF and Response</a:t>
            </a:r>
          </a:p>
          <a:p>
            <a:endParaRPr lang="en-US" altLang="ko-KR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자연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공진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주파수에서 실수부는 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가까워지고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허수부는 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기준으로 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peak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 나타남</a:t>
            </a: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피크의 방향은 해당 공진 주파수와 관련된 모드 형상을 결정하는데 활용</a:t>
            </a: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9829F025-A234-E2BE-8C26-8562278AF32F}"/>
                  </a:ext>
                </a:extLst>
              </p:cNvPr>
              <p:cNvSpPr/>
              <p:nvPr/>
            </p:nvSpPr>
            <p:spPr>
              <a:xfrm>
                <a:off x="1149592" y="3460274"/>
                <a:ext cx="3993676" cy="148841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Amplitude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ima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p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ko-KR" altLang="en-US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Real</m:t>
                            </m:r>
                          </m:e>
                          <m:sup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ctr"/>
                <a:endParaRPr lang="en-US" altLang="ko-KR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ctr"/>
                <a:r>
                  <a:rPr lang="en-US" altLang="ko-KR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Phase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lmag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real</m:t>
                            </m:r>
                          </m:den>
                        </m:f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ko-KR" altLang="en-US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9829F025-A234-E2BE-8C26-8562278AF3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592" y="3460274"/>
                <a:ext cx="3993676" cy="14884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1556E4DA-60BE-E212-B622-5732F6BC07CF}"/>
              </a:ext>
            </a:extLst>
          </p:cNvPr>
          <p:cNvGrpSpPr/>
          <p:nvPr/>
        </p:nvGrpSpPr>
        <p:grpSpPr>
          <a:xfrm>
            <a:off x="6391727" y="3238500"/>
            <a:ext cx="4982029" cy="2067496"/>
            <a:chOff x="6371771" y="4104053"/>
            <a:chExt cx="4459687" cy="1934551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3B9CD0DB-488A-B652-D7DA-5A174BE054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1771" y="4104053"/>
              <a:ext cx="4459687" cy="1758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3E6B4F-EA54-9D3F-A69C-6CEF0DA72D26}"/>
                </a:ext>
              </a:extLst>
            </p:cNvPr>
            <p:cNvSpPr txBox="1"/>
            <p:nvPr/>
          </p:nvSpPr>
          <p:spPr>
            <a:xfrm>
              <a:off x="7004679" y="5808216"/>
              <a:ext cx="1123934" cy="230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(</a:t>
              </a:r>
              <a:r>
                <a:rPr lang="ko-KR" altLang="en-US" sz="1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진폭</a:t>
              </a:r>
              <a:r>
                <a:rPr lang="en-US" altLang="ko-KR" sz="1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, </a:t>
              </a:r>
              <a:r>
                <a:rPr lang="ko-KR" altLang="en-US" sz="1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위상 그래프</a:t>
              </a:r>
              <a:r>
                <a:rPr lang="en-US" altLang="ko-KR" sz="1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)</a:t>
              </a:r>
              <a:endParaRPr lang="ko-KR" altLang="en-US" sz="1000" b="1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78EEE2-2D1E-8AD1-F60A-63E569BA4125}"/>
                </a:ext>
              </a:extLst>
            </p:cNvPr>
            <p:cNvSpPr txBox="1"/>
            <p:nvPr/>
          </p:nvSpPr>
          <p:spPr>
            <a:xfrm>
              <a:off x="9208045" y="5808215"/>
              <a:ext cx="1256852" cy="230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(</a:t>
              </a:r>
              <a:r>
                <a:rPr lang="ko-KR" altLang="en-US" sz="1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실수</a:t>
              </a:r>
              <a:r>
                <a:rPr lang="en-US" altLang="ko-KR" sz="1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, </a:t>
              </a:r>
              <a:r>
                <a:rPr lang="ko-KR" altLang="en-US" sz="1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허수 그래프</a:t>
              </a:r>
              <a:r>
                <a:rPr lang="en-US" altLang="ko-KR" sz="1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)</a:t>
              </a:r>
              <a:endParaRPr lang="ko-KR" altLang="en-US" sz="1000" b="1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86E79C8-270B-11D0-7F39-21458C0862BC}"/>
              </a:ext>
            </a:extLst>
          </p:cNvPr>
          <p:cNvCxnSpPr>
            <a:cxnSpLocks/>
          </p:cNvCxnSpPr>
          <p:nvPr/>
        </p:nvCxnSpPr>
        <p:spPr>
          <a:xfrm flipH="1">
            <a:off x="6095999" y="1992086"/>
            <a:ext cx="1" cy="36362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B108EA7-E4A8-DA99-72C6-293A021D72FC}"/>
              </a:ext>
            </a:extLst>
          </p:cNvPr>
          <p:cNvSpPr txBox="1"/>
          <p:nvPr/>
        </p:nvSpPr>
        <p:spPr>
          <a:xfrm>
            <a:off x="1898072" y="6565611"/>
            <a:ext cx="8719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이미지 출처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https://community.sw.siemens.com/s/article/what-is-a-frequency-response-function-frf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BA0FD0-AD6E-3946-0D9B-18D31945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524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3E2B3-FDFD-5DC3-1367-71AA7DD3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0D2C0-4A06-DA9D-70B1-0A6475BB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29"/>
          </a:xfrm>
        </p:spPr>
        <p:txBody>
          <a:bodyPr>
            <a:no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4.1 Example</a:t>
            </a:r>
            <a:endParaRPr lang="ko-KR" altLang="en-US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882A7F6-49FE-13F8-6BE8-E7C2D6ED9A49}"/>
              </a:ext>
            </a:extLst>
          </p:cNvPr>
          <p:cNvCxnSpPr>
            <a:cxnSpLocks/>
          </p:cNvCxnSpPr>
          <p:nvPr/>
        </p:nvCxnSpPr>
        <p:spPr>
          <a:xfrm>
            <a:off x="766618" y="803563"/>
            <a:ext cx="108619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22324A-904C-68BA-0607-B76C4E852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58" y="128460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Imaginary FRF </a:t>
            </a:r>
          </a:p>
          <a:p>
            <a:pPr marL="0" indent="0">
              <a:buNone/>
            </a:pPr>
            <a:endParaRPr lang="en-US" altLang="ko-KR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여러 위치에서 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FRF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측정하여 구조물의 응답을 분석함 </a:t>
            </a:r>
          </a:p>
          <a:p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532 Hz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허수 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FRF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비교함 </a:t>
            </a:r>
          </a:p>
          <a:p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측정 위치에 따라 위상과 진폭이 다르게 나타남 </a:t>
            </a: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내용 개체 틀 5">
            <a:extLst>
              <a:ext uri="{FF2B5EF4-FFF2-40B4-BE49-F238E27FC236}">
                <a16:creationId xmlns:a16="http://schemas.microsoft.com/office/drawing/2014/main" id="{9731C446-4EDA-DC7D-8CF1-8AE753E4C30E}"/>
              </a:ext>
            </a:extLst>
          </p:cNvPr>
          <p:cNvSpPr txBox="1">
            <a:spLocks/>
          </p:cNvSpPr>
          <p:nvPr/>
        </p:nvSpPr>
        <p:spPr>
          <a:xfrm>
            <a:off x="6253842" y="128460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Mode Shape</a:t>
            </a:r>
          </a:p>
          <a:p>
            <a:pPr marL="0" indent="0">
              <a:buNone/>
            </a:pPr>
            <a:endParaRPr lang="en-US" altLang="ko-KR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특정 위치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(1, 13)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위상이 같음 → 같은 방향으로 움직임</a:t>
            </a: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위치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(3, 15)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반대 위상 → 반대 방향으로 움직임</a:t>
            </a: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일부 위치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(7, 9)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진폭이 작음 → 변형이 적음</a:t>
            </a: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9B0DF89-E2F1-629C-9A63-62D9DD80A5E4}"/>
              </a:ext>
            </a:extLst>
          </p:cNvPr>
          <p:cNvCxnSpPr>
            <a:cxnSpLocks/>
          </p:cNvCxnSpPr>
          <p:nvPr/>
        </p:nvCxnSpPr>
        <p:spPr>
          <a:xfrm flipH="1">
            <a:off x="6095999" y="1970314"/>
            <a:ext cx="1" cy="365800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A65937-CCEA-7DAA-98AD-5D746DE23A63}"/>
              </a:ext>
            </a:extLst>
          </p:cNvPr>
          <p:cNvSpPr txBox="1"/>
          <p:nvPr/>
        </p:nvSpPr>
        <p:spPr>
          <a:xfrm>
            <a:off x="1898072" y="6565611"/>
            <a:ext cx="8719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이미지 출처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https://community.sw.siemens.com/s/article/what-is-a-frequency-response-function-frf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72A3392C-F373-2090-CBFB-87D752B60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869" y="3508891"/>
            <a:ext cx="3532827" cy="1867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5AAB990-602B-CE08-06E0-354AC9956593}"/>
              </a:ext>
            </a:extLst>
          </p:cNvPr>
          <p:cNvSpPr txBox="1"/>
          <p:nvPr/>
        </p:nvSpPr>
        <p:spPr>
          <a:xfrm>
            <a:off x="843671" y="5711457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동일 주파수에서도 위치에 따라 위상과 응답이 달라지며</a:t>
            </a:r>
            <a:r>
              <a:rPr lang="en-US" altLang="ko-KR" sz="12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r>
              <a:rPr lang="en-US" altLang="ko-KR" sz="12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    </a:t>
            </a:r>
            <a:r>
              <a:rPr lang="ko-KR" altLang="en-US" sz="12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이는 모드 형상을 결정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9102FB8-6432-272C-6D63-6CD45BCF5753}"/>
              </a:ext>
            </a:extLst>
          </p:cNvPr>
          <p:cNvGrpSpPr/>
          <p:nvPr/>
        </p:nvGrpSpPr>
        <p:grpSpPr>
          <a:xfrm>
            <a:off x="1254820" y="3061829"/>
            <a:ext cx="3749702" cy="2314324"/>
            <a:chOff x="1254820" y="3061829"/>
            <a:chExt cx="3749702" cy="2314324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93383C08-FD02-E036-0010-9685A47E8ACB}"/>
                </a:ext>
              </a:extLst>
            </p:cNvPr>
            <p:cNvGrpSpPr/>
            <p:nvPr/>
          </p:nvGrpSpPr>
          <p:grpSpPr>
            <a:xfrm>
              <a:off x="1254820" y="3061829"/>
              <a:ext cx="3749702" cy="2314324"/>
              <a:chOff x="1254820" y="3061829"/>
              <a:chExt cx="3749702" cy="2314324"/>
            </a:xfrm>
          </p:grpSpPr>
          <p:pic>
            <p:nvPicPr>
              <p:cNvPr id="9" name="Picture 2">
                <a:extLst>
                  <a:ext uri="{FF2B5EF4-FFF2-40B4-BE49-F238E27FC236}">
                    <a16:creationId xmlns:a16="http://schemas.microsoft.com/office/drawing/2014/main" id="{05F5A82A-00E3-D48F-20DF-54BC2BFACD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4820" y="3266616"/>
                <a:ext cx="3749702" cy="21095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725EBEE9-122F-1695-3678-D1870F5CCF2B}"/>
                  </a:ext>
                </a:extLst>
              </p:cNvPr>
              <p:cNvSpPr/>
              <p:nvPr/>
            </p:nvSpPr>
            <p:spPr>
              <a:xfrm>
                <a:off x="1685925" y="3061829"/>
                <a:ext cx="638175" cy="204787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accent4">
                        <a:lumMod val="75000"/>
                      </a:schemeClr>
                    </a:solidFill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532Hz</a:t>
                </a:r>
                <a:endParaRPr lang="ko-KR" altLang="en-US" sz="1000" b="1" dirty="0">
                  <a:solidFill>
                    <a:schemeClr val="accent4">
                      <a:lumMod val="75000"/>
                    </a:schemeClr>
                  </a:solidFill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p:grp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2B9B987-AE0B-2B77-F19E-E1267977F48A}"/>
                </a:ext>
              </a:extLst>
            </p:cNvPr>
            <p:cNvSpPr/>
            <p:nvPr/>
          </p:nvSpPr>
          <p:spPr>
            <a:xfrm>
              <a:off x="1946376" y="5043840"/>
              <a:ext cx="321253" cy="10477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3DD720-12FA-66B0-9F6B-7C89EEB11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807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A0EF-771E-D049-CD40-66EC74410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B3C0F-13D8-AFCC-2E95-005D39138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29"/>
          </a:xfrm>
        </p:spPr>
        <p:txBody>
          <a:bodyPr>
            <a:no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5. Coherence</a:t>
            </a:r>
            <a:endParaRPr lang="ko-KR" altLang="en-US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9F61187-9D90-EB13-D489-877B80B06762}"/>
              </a:ext>
            </a:extLst>
          </p:cNvPr>
          <p:cNvCxnSpPr>
            <a:cxnSpLocks/>
          </p:cNvCxnSpPr>
          <p:nvPr/>
        </p:nvCxnSpPr>
        <p:spPr>
          <a:xfrm>
            <a:off x="766618" y="803563"/>
            <a:ext cx="108619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내용 개체 틀 5">
            <a:extLst>
              <a:ext uri="{FF2B5EF4-FFF2-40B4-BE49-F238E27FC236}">
                <a16:creationId xmlns:a16="http://schemas.microsoft.com/office/drawing/2014/main" id="{2F28108D-05DA-9966-0092-2E73A2A8AFD4}"/>
              </a:ext>
            </a:extLst>
          </p:cNvPr>
          <p:cNvSpPr txBox="1">
            <a:spLocks/>
          </p:cNvSpPr>
          <p:nvPr/>
        </p:nvSpPr>
        <p:spPr>
          <a:xfrm>
            <a:off x="794657" y="1194800"/>
            <a:ext cx="5143427" cy="431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What is Coherence?</a:t>
            </a:r>
          </a:p>
          <a:p>
            <a:pPr marL="0" indent="0">
              <a:buNone/>
            </a:pPr>
            <a:endParaRPr lang="en-US" altLang="ko-KR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Coherence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는 입력과 출력 간의 선형 관계를 나타내는 함수</a:t>
            </a: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주파수에 따라 값이 변하며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0 ~ 1 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범위의 값을 가짐</a:t>
            </a: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coherence ≈ 1: 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입력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–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출력 관계 명확 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신뢰도 높음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coherence ≈ 0: 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노이즈 영향 큼 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신뢰도 낮음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marL="0" indent="0">
              <a:buNone/>
            </a:pP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4BD620C-60A0-4EE6-4EDD-D159C103277A}"/>
              </a:ext>
            </a:extLst>
          </p:cNvPr>
          <p:cNvCxnSpPr>
            <a:cxnSpLocks/>
          </p:cNvCxnSpPr>
          <p:nvPr/>
        </p:nvCxnSpPr>
        <p:spPr>
          <a:xfrm>
            <a:off x="6095999" y="1952625"/>
            <a:ext cx="0" cy="42241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43AF064-860A-AF16-1C9D-876E33CE3CD7}"/>
              </a:ext>
            </a:extLst>
          </p:cNvPr>
          <p:cNvSpPr txBox="1"/>
          <p:nvPr/>
        </p:nvSpPr>
        <p:spPr>
          <a:xfrm>
            <a:off x="1898072" y="6565611"/>
            <a:ext cx="8719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이미지 출처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https://community.sw.siemens.com/s/article/what-is-a-frequency-response-function-frf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2D50404-5923-3DFE-70C7-C812E9940897}"/>
              </a:ext>
            </a:extLst>
          </p:cNvPr>
          <p:cNvGrpSpPr/>
          <p:nvPr/>
        </p:nvGrpSpPr>
        <p:grpSpPr>
          <a:xfrm>
            <a:off x="1746773" y="3603944"/>
            <a:ext cx="2846846" cy="2144385"/>
            <a:chOff x="6629398" y="3721100"/>
            <a:chExt cx="3695701" cy="2783785"/>
          </a:xfrm>
        </p:grpSpPr>
        <p:pic>
          <p:nvPicPr>
            <p:cNvPr id="4101" name="Picture 5" descr="User-added image">
              <a:extLst>
                <a:ext uri="{FF2B5EF4-FFF2-40B4-BE49-F238E27FC236}">
                  <a16:creationId xmlns:a16="http://schemas.microsoft.com/office/drawing/2014/main" id="{0224089B-5BDC-7633-1EC2-334829140D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9398" y="3721100"/>
              <a:ext cx="3695701" cy="2519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5D1397C-8D86-8843-1677-24C330FFC2E0}"/>
                </a:ext>
              </a:extLst>
            </p:cNvPr>
            <p:cNvSpPr txBox="1"/>
            <p:nvPr/>
          </p:nvSpPr>
          <p:spPr>
            <a:xfrm>
              <a:off x="7656213" y="6185247"/>
              <a:ext cx="1834244" cy="319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Coherence, FRF</a:t>
              </a:r>
              <a:endParaRPr lang="ko-KR" altLang="en-US" sz="1000" b="1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A3C26E0-3F88-774B-F2BC-44D8EDD4E57F}"/>
              </a:ext>
            </a:extLst>
          </p:cNvPr>
          <p:cNvSpPr txBox="1"/>
          <p:nvPr/>
        </p:nvSpPr>
        <p:spPr>
          <a:xfrm>
            <a:off x="1054162" y="5743367"/>
            <a:ext cx="5143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의미 있는 </a:t>
            </a:r>
            <a:r>
              <a:rPr lang="en-US" altLang="ko-KR" sz="12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coherence</a:t>
            </a:r>
            <a:r>
              <a:rPr lang="ko-KR" altLang="en-US" sz="12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를 위해서는 반복 측정이 필요</a:t>
            </a:r>
            <a:endParaRPr lang="en-US" altLang="ko-KR" sz="1200" dirty="0">
              <a:solidFill>
                <a:srgbClr val="FF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Averaging → </a:t>
            </a:r>
            <a:r>
              <a:rPr lang="ko-KR" altLang="en-US" sz="12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안정화</a:t>
            </a:r>
            <a:r>
              <a:rPr lang="en-US" altLang="ko-KR" sz="12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Coherence → </a:t>
            </a:r>
            <a:r>
              <a:rPr lang="ko-KR" altLang="en-US" sz="12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검증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내용 개체 틀 5">
                <a:extLst>
                  <a:ext uri="{FF2B5EF4-FFF2-40B4-BE49-F238E27FC236}">
                    <a16:creationId xmlns:a16="http://schemas.microsoft.com/office/drawing/2014/main" id="{2FF076BA-336D-ED49-702E-6859A77973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53842" y="1190334"/>
                <a:ext cx="5257800" cy="50146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altLang="ko-KR" sz="20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12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12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0" dirty="0" smtClean="0">
                        <a:latin typeface="Cambria Math" panose="02040503050406030204" pitchFamily="18" charset="0"/>
                      </a:rPr>
                      <m:t>Coherence</m:t>
                    </m:r>
                  </m:oMath>
                </a14:m>
                <a:r>
                  <a:rPr lang="en-US" altLang="ko-KR" sz="1200" b="0" i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2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i="1" dirty="0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20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2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dirty="0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dirty="0" smtClean="0">
                                          <a:latin typeface="Cambria Math" panose="02040503050406030204" pitchFamily="18" charset="0"/>
                                        </a:rPr>
                                        <m:t>𝑥𝑦</m:t>
                                      </m:r>
                                      <m:d>
                                        <m:dPr>
                                          <m:ctrlPr>
                                            <a:rPr lang="en-US" altLang="ko-KR" sz="12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sz="12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  <m:t>𝑦𝑦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ko-KR" sz="1200" i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12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d>
                        <m:dPr>
                          <m:ctrlP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ko-KR" sz="1200" b="0" i="1" smtClean="0">
                          <a:ln w="0"/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n w="0"/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sSup>
                        <m:sSupPr>
                          <m:ctrlP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altLang="ko-KR" sz="1200" b="0" i="1" dirty="0">
                  <a:ln w="0"/>
                  <a:effectLst/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n w="0"/>
                          <a:effectLst/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ko-KR" sz="1200" b="0" i="1" smtClean="0">
                          <a:ln w="0"/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n w="0"/>
                          <a:effectLst/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ko-KR" sz="1200" b="0" i="1" smtClean="0">
                          <a:ln w="0"/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n w="0"/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altLang="ko-KR" sz="1200" b="0" i="1" dirty="0">
                  <a:ln w="0"/>
                  <a:effectLst/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200" b="0" i="1" smtClean="0">
                              <a:ln w="0"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altLang="ko-KR" sz="1200" b="0" i="1" smtClean="0">
                              <a:ln w="0"/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ko-KR" sz="1200" i="1">
                          <a:ln w="0"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200" b="0" i="1" smtClean="0">
                              <a:ln w="0"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sz="1200" b="0" i="1" smtClean="0">
                              <a:ln w="0"/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sSup>
                        <m:sSupPr>
                          <m:ctrlPr>
                            <a:rPr lang="en-US" altLang="ko-KR" sz="1200" b="0" i="1" smtClean="0">
                              <a:ln w="0"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ko-KR" sz="1200" b="0" i="1" smtClean="0">
                              <a:ln w="0"/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altLang="ko-KR" sz="1200" i="1" dirty="0">
                  <a:ln w="0"/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sz="1200" dirty="0">
                    <a:ln w="0"/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따라서</a:t>
                </a:r>
                <a:endParaRPr lang="en-US" altLang="ko-KR" sz="1200" dirty="0">
                  <a:ln w="0"/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altLang="ko-KR" sz="1200" i="1">
                          <a:ln w="0"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200" b="0" i="1" smtClean="0">
                              <a:ln w="0"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b="0" i="1" smtClean="0">
                              <a:ln w="0"/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sz="1200" b="0" i="1" smtClean="0">
                              <a:ln w="0"/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sSub>
                        <m:sSubPr>
                          <m:ctrlPr>
                            <a:rPr lang="en-US" altLang="ko-KR" sz="1200" b="0" i="1" smtClean="0">
                              <a:ln w="0"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n w="0"/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200" b="0" i="1" smtClean="0">
                              <a:ln w="0"/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i="1">
                              <a:ln w="0"/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altLang="ko-KR" sz="1200" i="1" dirty="0">
                  <a:ln w="0"/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1200" i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i="1" dirty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2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200" b="0" i="1" smtClean="0">
                                          <a:ln w="0"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200" i="1">
                                          <a:ln w="0"/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p>
                                      <m:r>
                                        <a:rPr lang="en-US" altLang="ko-KR" sz="1200" b="0" i="1" smtClean="0">
                                          <a:ln w="0"/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ko-KR" sz="1200" i="1">
                                          <a:ln w="0"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200" i="1">
                                          <a:ln w="0"/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altLang="ko-KR" sz="1200" i="1">
                                          <a:ln w="0"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i="1">
                                          <a:ln w="0"/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sz="1200" i="1">
                                          <a:ln w="0"/>
                                          <a:latin typeface="Cambria Math" panose="02040503050406030204" pitchFamily="18" charset="0"/>
                                        </a:rPr>
                                        <m:t>𝑥𝑥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ko-KR" sz="1200" i="1">
                                          <a:ln w="0"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200" i="1">
                                          <a:ln w="0"/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  <m:t>𝑦𝑦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ko-KR" sz="1200" i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12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sz="12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노이즈가 없을 경우</a:t>
                </a:r>
                <a:r>
                  <a:rPr lang="en-US" altLang="ko-KR" sz="12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: 1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i="1" dirty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200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2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i="1">
                                      <a:ln w="0"/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en-US" altLang="ko-KR" sz="1200" i="1">
                                          <a:ln w="0"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200" i="1">
                                          <a:ln w="0"/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ko-KR" sz="1200" i="1">
                                  <a:ln w="0"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n w="0"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200" i="1">
                                  <a:ln w="0"/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200" i="1">
                                  <a:ln w="0"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i="1">
                                  <a:ln w="0"/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  <m:t>𝑦𝑦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ko-KR" sz="12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22" name="내용 개체 틀 5">
                <a:extLst>
                  <a:ext uri="{FF2B5EF4-FFF2-40B4-BE49-F238E27FC236}">
                    <a16:creationId xmlns:a16="http://schemas.microsoft.com/office/drawing/2014/main" id="{2FF076BA-336D-ED49-702E-6859A7797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842" y="1190334"/>
                <a:ext cx="5257800" cy="5014697"/>
              </a:xfrm>
              <a:prstGeom prst="rect">
                <a:avLst/>
              </a:prstGeom>
              <a:blipFill>
                <a:blip r:embed="rId4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536619-2655-F082-3216-7D94C154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795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D18F9-7B45-9143-76C3-B5DAFB3A6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74DE0C-981C-4ABF-D6B4-853AFE2E6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29"/>
          </a:xfrm>
        </p:spPr>
        <p:txBody>
          <a:bodyPr>
            <a:no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6.1 FRF Estimation : H1 Estimator</a:t>
            </a:r>
            <a:endParaRPr lang="ko-KR" altLang="en-US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6D4D811-7C0A-7823-D2E5-4969EAEFAADE}"/>
              </a:ext>
            </a:extLst>
          </p:cNvPr>
          <p:cNvCxnSpPr>
            <a:cxnSpLocks/>
          </p:cNvCxnSpPr>
          <p:nvPr/>
        </p:nvCxnSpPr>
        <p:spPr>
          <a:xfrm>
            <a:off x="766618" y="803563"/>
            <a:ext cx="108619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5">
                <a:extLst>
                  <a:ext uri="{FF2B5EF4-FFF2-40B4-BE49-F238E27FC236}">
                    <a16:creationId xmlns:a16="http://schemas.microsoft.com/office/drawing/2014/main" id="{8BF98FDC-CC57-90B8-F0C3-E436F24F4C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4657" y="1194800"/>
                <a:ext cx="5143427" cy="43148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H1 Estimator</a:t>
                </a:r>
              </a:p>
              <a:p>
                <a:pPr marL="0" indent="0">
                  <a:buNone/>
                </a:pPr>
                <a:endParaRPr lang="en-US" altLang="ko-KR" sz="20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6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가정</a:t>
                </a:r>
                <a:endParaRPr lang="en-US" altLang="ko-KR" sz="16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입력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은 정확하고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출력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에만 노이즈 존재</a:t>
                </a: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6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특징</a:t>
                </a:r>
                <a:endParaRPr lang="en-US" altLang="ko-KR" sz="16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출력 노이즈 영향을 줄여 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FRF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추정</a:t>
                </a: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anti – resonance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에서 안정적</a:t>
                </a: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6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단점</a:t>
                </a:r>
                <a:endParaRPr lang="en-US" altLang="ko-KR" sz="16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입력에 노이즈가 있으면 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FRF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과소 평가</a:t>
                </a:r>
                <a:endParaRPr lang="en-US" altLang="ko-KR" sz="14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8" name="내용 개체 틀 5">
                <a:extLst>
                  <a:ext uri="{FF2B5EF4-FFF2-40B4-BE49-F238E27FC236}">
                    <a16:creationId xmlns:a16="http://schemas.microsoft.com/office/drawing/2014/main" id="{8BF98FDC-CC57-90B8-F0C3-E436F24F4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57" y="1194800"/>
                <a:ext cx="5143427" cy="4314837"/>
              </a:xfrm>
              <a:prstGeom prst="rect">
                <a:avLst/>
              </a:prstGeom>
              <a:blipFill>
                <a:blip r:embed="rId3"/>
                <a:stretch>
                  <a:fillRect l="-1185" t="-14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BCFF38B-93D4-5765-AE3A-D775885EDCAD}"/>
              </a:ext>
            </a:extLst>
          </p:cNvPr>
          <p:cNvCxnSpPr>
            <a:cxnSpLocks/>
          </p:cNvCxnSpPr>
          <p:nvPr/>
        </p:nvCxnSpPr>
        <p:spPr>
          <a:xfrm>
            <a:off x="6095999" y="1591655"/>
            <a:ext cx="0" cy="45850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E8AC6FC-7361-3355-9EEC-8960B335E26A}"/>
              </a:ext>
            </a:extLst>
          </p:cNvPr>
          <p:cNvSpPr txBox="1"/>
          <p:nvPr/>
        </p:nvSpPr>
        <p:spPr>
          <a:xfrm>
            <a:off x="1898072" y="6565611"/>
            <a:ext cx="8719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이미지 출처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https://community.sw.siemens.com/s/article/what-is-a-frequency-response-function-frf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8D42541-07C9-D709-3A45-434ED6DBF9B1}"/>
              </a:ext>
            </a:extLst>
          </p:cNvPr>
          <p:cNvGrpSpPr/>
          <p:nvPr/>
        </p:nvGrpSpPr>
        <p:grpSpPr>
          <a:xfrm>
            <a:off x="6253842" y="2085069"/>
            <a:ext cx="5689233" cy="1267149"/>
            <a:chOff x="3315060" y="1134392"/>
            <a:chExt cx="5689233" cy="12671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4F697D6C-82DE-5DAC-8C9B-7B2DA8EE62BA}"/>
                    </a:ext>
                  </a:extLst>
                </p:cNvPr>
                <p:cNvSpPr/>
                <p:nvPr/>
              </p:nvSpPr>
              <p:spPr>
                <a:xfrm>
                  <a:off x="5103609" y="1134392"/>
                  <a:ext cx="1379220" cy="50292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oMath>
                    </m:oMathPara>
                  </a14:m>
                  <a:endParaRPr lang="ko-KR" altLang="en-US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4F697D6C-82DE-5DAC-8C9B-7B2DA8EE62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3609" y="1134392"/>
                  <a:ext cx="1379220" cy="5029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15199EA-3D86-A7D8-0D7C-72F4DC90AAAA}"/>
                    </a:ext>
                  </a:extLst>
                </p:cNvPr>
                <p:cNvSpPr txBox="1"/>
                <p:nvPr/>
              </p:nvSpPr>
              <p:spPr>
                <a:xfrm>
                  <a:off x="3315060" y="1224529"/>
                  <a:ext cx="7970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𝑿</m:t>
                      </m:r>
                    </m:oMath>
                  </a14:m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(</a:t>
                  </a:r>
                  <a:r>
                    <a:rPr lang="ko-KR" altLang="en-US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입력</a:t>
                  </a:r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)</a:t>
                  </a:r>
                  <a:endParaRPr lang="ko-KR" altLang="en-US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15199EA-3D86-A7D8-0D7C-72F4DC90AA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5060" y="1224529"/>
                  <a:ext cx="797013" cy="307777"/>
                </a:xfrm>
                <a:prstGeom prst="rect">
                  <a:avLst/>
                </a:prstGeom>
                <a:blipFill>
                  <a:blip r:embed="rId5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5BFE2C7-46B1-9EDB-8D59-09499DF21032}"/>
                    </a:ext>
                  </a:extLst>
                </p:cNvPr>
                <p:cNvSpPr txBox="1"/>
                <p:nvPr/>
              </p:nvSpPr>
              <p:spPr>
                <a:xfrm>
                  <a:off x="8213037" y="1227826"/>
                  <a:ext cx="79125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a14:m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(</a:t>
                  </a:r>
                  <a:r>
                    <a:rPr lang="ko-KR" altLang="en-US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출력</a:t>
                  </a:r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)</a:t>
                  </a:r>
                  <a:endParaRPr lang="ko-KR" altLang="en-US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5BFE2C7-46B1-9EDB-8D59-09499DF21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3037" y="1227826"/>
                  <a:ext cx="791256" cy="307777"/>
                </a:xfrm>
                <a:prstGeom prst="rect">
                  <a:avLst/>
                </a:prstGeom>
                <a:blipFill>
                  <a:blip r:embed="rId6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2350B12-90C4-371A-07B3-BD9125D4678F}"/>
                    </a:ext>
                  </a:extLst>
                </p:cNvPr>
                <p:cNvSpPr txBox="1"/>
                <p:nvPr/>
              </p:nvSpPr>
              <p:spPr>
                <a:xfrm>
                  <a:off x="4704192" y="1733039"/>
                  <a:ext cx="224536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𝑯𝑿</m:t>
                      </m:r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m:rPr>
                          <m:nor/>
                        </m:rPr>
                        <a:rPr lang="en-US" altLang="ko-KR" sz="1400" b="1" i="0" smtClean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m:t>  </m:t>
                      </m:r>
                    </m:oMath>
                  </a14:m>
                  <a:r>
                    <a:rPr lang="en-US" altLang="ko-KR" sz="1400" b="1" i="0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(H1 </a:t>
                  </a:r>
                  <a:r>
                    <a:rPr lang="ko-KR" altLang="en-US" sz="1400" b="1" i="0" dirty="0" err="1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추정기</a:t>
                  </a:r>
                  <a:r>
                    <a:rPr lang="en-US" altLang="ko-KR" sz="1400" b="1" i="0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2350B12-90C4-371A-07B3-BD9125D46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4192" y="1733039"/>
                  <a:ext cx="2245364" cy="307777"/>
                </a:xfrm>
                <a:prstGeom prst="rect">
                  <a:avLst/>
                </a:prstGeom>
                <a:blipFill>
                  <a:blip r:embed="rId7"/>
                  <a:stretch>
                    <a:fillRect t="-5882" b="-176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A715525-2291-9AE4-2B38-C5D6D7BA3BDF}"/>
                    </a:ext>
                  </a:extLst>
                </p:cNvPr>
                <p:cNvSpPr txBox="1"/>
                <p:nvPr/>
              </p:nvSpPr>
              <p:spPr>
                <a:xfrm>
                  <a:off x="7174214" y="2093764"/>
                  <a:ext cx="125737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𝑵</m:t>
                      </m:r>
                    </m:oMath>
                  </a14:m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 (</a:t>
                  </a:r>
                  <a:r>
                    <a:rPr lang="ko-KR" altLang="en-US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노이즈</a:t>
                  </a:r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)</a:t>
                  </a:r>
                  <a:endParaRPr lang="ko-KR" altLang="en-US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A715525-2291-9AE4-2B38-C5D6D7BA3B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214" y="2093764"/>
                  <a:ext cx="1257377" cy="307777"/>
                </a:xfrm>
                <a:prstGeom prst="rect">
                  <a:avLst/>
                </a:prstGeom>
                <a:blipFill>
                  <a:blip r:embed="rId8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0DFF19CF-24E9-F58A-D5A6-3149D9CA4CCF}"/>
                </a:ext>
              </a:extLst>
            </p:cNvPr>
            <p:cNvSpPr/>
            <p:nvPr/>
          </p:nvSpPr>
          <p:spPr>
            <a:xfrm>
              <a:off x="4054456" y="1321000"/>
              <a:ext cx="993557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40BCBC36-030F-7AE9-0647-38D9D0CE62A9}"/>
                </a:ext>
              </a:extLst>
            </p:cNvPr>
            <p:cNvSpPr/>
            <p:nvPr/>
          </p:nvSpPr>
          <p:spPr>
            <a:xfrm>
              <a:off x="6500012" y="1324297"/>
              <a:ext cx="545635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933A05D2-9F91-DA3D-D3CF-803CE4ECD503}"/>
                </a:ext>
              </a:extLst>
            </p:cNvPr>
            <p:cNvSpPr/>
            <p:nvPr/>
          </p:nvSpPr>
          <p:spPr>
            <a:xfrm>
              <a:off x="7632409" y="1326570"/>
              <a:ext cx="626674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16" name="순서도: 연결자 15">
              <a:extLst>
                <a:ext uri="{FF2B5EF4-FFF2-40B4-BE49-F238E27FC236}">
                  <a16:creationId xmlns:a16="http://schemas.microsoft.com/office/drawing/2014/main" id="{088DD965-639B-EC9B-FC43-CEB038A16E11}"/>
                </a:ext>
              </a:extLst>
            </p:cNvPr>
            <p:cNvSpPr/>
            <p:nvPr/>
          </p:nvSpPr>
          <p:spPr>
            <a:xfrm>
              <a:off x="7073893" y="1134392"/>
              <a:ext cx="502920" cy="502920"/>
            </a:xfrm>
            <a:prstGeom prst="flowChart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CA387805-33F6-4655-F229-02872AA2F7BB}"/>
                </a:ext>
              </a:extLst>
            </p:cNvPr>
            <p:cNvCxnSpPr>
              <a:cxnSpLocks/>
              <a:stCxn id="16" idx="5"/>
              <a:endCxn id="16" idx="1"/>
            </p:cNvCxnSpPr>
            <p:nvPr/>
          </p:nvCxnSpPr>
          <p:spPr>
            <a:xfrm flipH="1" flipV="1">
              <a:off x="7147544" y="1208043"/>
              <a:ext cx="355618" cy="3556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5B54EA6B-FA48-662B-BA1A-19C3FBF1818A}"/>
                </a:ext>
              </a:extLst>
            </p:cNvPr>
            <p:cNvCxnSpPr>
              <a:stCxn id="16" idx="3"/>
              <a:endCxn id="16" idx="7"/>
            </p:cNvCxnSpPr>
            <p:nvPr/>
          </p:nvCxnSpPr>
          <p:spPr>
            <a:xfrm flipV="1">
              <a:off x="7147544" y="1208043"/>
              <a:ext cx="355618" cy="3556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화살표: 오른쪽 20">
              <a:extLst>
                <a:ext uri="{FF2B5EF4-FFF2-40B4-BE49-F238E27FC236}">
                  <a16:creationId xmlns:a16="http://schemas.microsoft.com/office/drawing/2014/main" id="{DA19585C-B6C8-252D-8EF7-BE94847EED8A}"/>
                </a:ext>
              </a:extLst>
            </p:cNvPr>
            <p:cNvSpPr/>
            <p:nvPr/>
          </p:nvSpPr>
          <p:spPr>
            <a:xfrm rot="16200000">
              <a:off x="7099122" y="1843069"/>
              <a:ext cx="452462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216D872-CFF8-87E6-8860-22D842CE7AD8}"/>
                </a:ext>
              </a:extLst>
            </p:cNvPr>
            <p:cNvSpPr txBox="1"/>
            <p:nvPr/>
          </p:nvSpPr>
          <p:spPr>
            <a:xfrm>
              <a:off x="7199461" y="1333872"/>
              <a:ext cx="1148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+</a:t>
              </a:r>
              <a:endPara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pic>
        <p:nvPicPr>
          <p:cNvPr id="12290" name="Picture 2" descr="사용자가 추가한 이미지">
            <a:extLst>
              <a:ext uri="{FF2B5EF4-FFF2-40B4-BE49-F238E27FC236}">
                <a16:creationId xmlns:a16="http://schemas.microsoft.com/office/drawing/2014/main" id="{3FE2EECB-A9AB-A079-F3CF-D8C38D6A1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348" y="3808670"/>
            <a:ext cx="5040000" cy="199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EA1CDE5-DF3B-027A-A20F-2F38B4C0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970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5BFF0-4749-56FE-535A-7DED7B9DD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31562-3B63-D747-1D10-184D1FAD4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29"/>
          </a:xfrm>
        </p:spPr>
        <p:txBody>
          <a:bodyPr>
            <a:no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6.2 FRF Estimation: H2 Estimator</a:t>
            </a:r>
            <a:endParaRPr lang="ko-KR" altLang="en-US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5146D78-6FD5-E19B-A461-E4E682F70BFE}"/>
              </a:ext>
            </a:extLst>
          </p:cNvPr>
          <p:cNvCxnSpPr>
            <a:cxnSpLocks/>
          </p:cNvCxnSpPr>
          <p:nvPr/>
        </p:nvCxnSpPr>
        <p:spPr>
          <a:xfrm>
            <a:off x="766618" y="803563"/>
            <a:ext cx="108619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5">
                <a:extLst>
                  <a:ext uri="{FF2B5EF4-FFF2-40B4-BE49-F238E27FC236}">
                    <a16:creationId xmlns:a16="http://schemas.microsoft.com/office/drawing/2014/main" id="{48592A26-2DBD-C9AC-6BF4-8DEDC8DE5F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4657" y="1194800"/>
                <a:ext cx="5143427" cy="43148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H2 Estimator</a:t>
                </a:r>
              </a:p>
              <a:p>
                <a:pPr marL="0" indent="0">
                  <a:buNone/>
                </a:pPr>
                <a:endParaRPr lang="en-US" altLang="ko-KR" sz="20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6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가정</a:t>
                </a:r>
                <a:endParaRPr lang="en-US" altLang="ko-KR" sz="16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입력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 노이즈 존재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출력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는 정확</a:t>
                </a: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6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특징</a:t>
                </a:r>
                <a:endParaRPr lang="en-US" altLang="ko-KR" sz="16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입력 노이즈를 보정하여 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FRF 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추정</a:t>
                </a: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resonance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에서 비교적 정확</a:t>
                </a: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6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단점</a:t>
                </a:r>
                <a:endParaRPr lang="en-US" altLang="ko-KR" sz="16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출력에 노이즈가 있으면 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FRF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를 과대평가</a:t>
                </a:r>
                <a:endParaRPr lang="en-US" altLang="ko-KR" sz="14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8" name="내용 개체 틀 5">
                <a:extLst>
                  <a:ext uri="{FF2B5EF4-FFF2-40B4-BE49-F238E27FC236}">
                    <a16:creationId xmlns:a16="http://schemas.microsoft.com/office/drawing/2014/main" id="{48592A26-2DBD-C9AC-6BF4-8DEDC8DE5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57" y="1194800"/>
                <a:ext cx="5143427" cy="4314837"/>
              </a:xfrm>
              <a:prstGeom prst="rect">
                <a:avLst/>
              </a:prstGeom>
              <a:blipFill>
                <a:blip r:embed="rId3"/>
                <a:stretch>
                  <a:fillRect l="-1185" t="-14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FADB047-DD9F-ACB8-8EE4-729415ABCD58}"/>
              </a:ext>
            </a:extLst>
          </p:cNvPr>
          <p:cNvCxnSpPr>
            <a:cxnSpLocks/>
          </p:cNvCxnSpPr>
          <p:nvPr/>
        </p:nvCxnSpPr>
        <p:spPr>
          <a:xfrm>
            <a:off x="6095999" y="1591655"/>
            <a:ext cx="0" cy="45850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55394F-5495-362C-A37D-A118FF5934BF}"/>
              </a:ext>
            </a:extLst>
          </p:cNvPr>
          <p:cNvSpPr txBox="1"/>
          <p:nvPr/>
        </p:nvSpPr>
        <p:spPr>
          <a:xfrm>
            <a:off x="1898072" y="6565611"/>
            <a:ext cx="8719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이미지 출처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https://community.sw.siemens.com/s/article/what-is-a-frequency-response-function-frf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CEE2433-45FC-9FBE-74DE-F6C4E7D7A8DF}"/>
              </a:ext>
            </a:extLst>
          </p:cNvPr>
          <p:cNvGrpSpPr/>
          <p:nvPr/>
        </p:nvGrpSpPr>
        <p:grpSpPr>
          <a:xfrm>
            <a:off x="6481766" y="2052115"/>
            <a:ext cx="5501138" cy="1300103"/>
            <a:chOff x="3392185" y="3425172"/>
            <a:chExt cx="5501138" cy="1300103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E062613-6685-E651-FAF4-1A255DCE2066}"/>
                </a:ext>
              </a:extLst>
            </p:cNvPr>
            <p:cNvGrpSpPr/>
            <p:nvPr/>
          </p:nvGrpSpPr>
          <p:grpSpPr>
            <a:xfrm>
              <a:off x="4619259" y="3432029"/>
              <a:ext cx="4274064" cy="891226"/>
              <a:chOff x="7222164" y="2317868"/>
              <a:chExt cx="4274064" cy="891226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32D37A7E-E568-5C34-0D6B-6E2F4B600AC3}"/>
                  </a:ext>
                </a:extLst>
              </p:cNvPr>
              <p:cNvGrpSpPr/>
              <p:nvPr/>
            </p:nvGrpSpPr>
            <p:grpSpPr>
              <a:xfrm>
                <a:off x="8339242" y="2317868"/>
                <a:ext cx="3156986" cy="502920"/>
                <a:chOff x="7978140" y="1013460"/>
                <a:chExt cx="3156986" cy="50292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직사각형 35">
                      <a:extLst>
                        <a:ext uri="{FF2B5EF4-FFF2-40B4-BE49-F238E27FC236}">
                          <a16:creationId xmlns:a16="http://schemas.microsoft.com/office/drawing/2014/main" id="{E28A4357-D3AF-699E-F9D3-6F16770FCD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78140" y="1013460"/>
                      <a:ext cx="1379220" cy="502920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4"/>
                    </a:lnRef>
                    <a:fillRef idx="2">
                      <a:schemeClr val="accent4"/>
                    </a:fillRef>
                    <a:effectRef idx="1">
                      <a:schemeClr val="accent4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ko-KR" altLang="en-US" sz="1400" b="1" i="1" smtClean="0">
                                <a:latin typeface="Cambria Math" panose="02040503050406030204" pitchFamily="18" charset="0"/>
                              </a:rPr>
                              <m:t>𝑯</m:t>
                            </m:r>
                          </m:oMath>
                        </m:oMathPara>
                      </a14:m>
                      <a:endParaRPr lang="ko-KR" altLang="en-US" sz="1400" b="1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p:txBody>
                </p:sp>
              </mc:Choice>
              <mc:Fallback xmlns="">
                <p:sp>
                  <p:nvSpPr>
                    <p:cNvPr id="36" name="직사각형 35">
                      <a:extLst>
                        <a:ext uri="{FF2B5EF4-FFF2-40B4-BE49-F238E27FC236}">
                          <a16:creationId xmlns:a16="http://schemas.microsoft.com/office/drawing/2014/main" id="{E28A4357-D3AF-699E-F9D3-6F16770FCDA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78140" y="1013460"/>
                      <a:ext cx="1379220" cy="5029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3846F3FA-109E-93C1-9032-A46FAA17F4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95873" y="1101049"/>
                      <a:ext cx="739253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oMath>
                      </a14:m>
                      <a:r>
                        <a:rPr lang="en-US" altLang="ko-KR" sz="1400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(</a:t>
                      </a:r>
                      <a:r>
                        <a:rPr lang="ko-KR" altLang="en-US" sz="1400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출력</a:t>
                      </a:r>
                      <a:r>
                        <a:rPr lang="en-US" altLang="ko-KR" sz="1400" b="1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)</a:t>
                      </a:r>
                      <a:endParaRPr lang="ko-KR" altLang="en-US" sz="1400" b="1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p:txBody>
                </p:sp>
              </mc:Choice>
              <mc:Fallback xmlns=""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3846F3FA-109E-93C1-9032-A46FAA17F4D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95873" y="1101049"/>
                      <a:ext cx="739253" cy="30777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t="-3922" r="-10656" b="-1960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986405BE-1F50-CF2D-5BE1-0AFB45C113E1}"/>
                      </a:ext>
                    </a:extLst>
                  </p:cNvPr>
                  <p:cNvSpPr txBox="1"/>
                  <p:nvPr/>
                </p:nvSpPr>
                <p:spPr>
                  <a:xfrm>
                    <a:off x="7222164" y="2901317"/>
                    <a:ext cx="395838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altLang="ko-KR" sz="1400" b="1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ko-KR" sz="1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400" b="1" i="1"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m:rPr>
                            <m:nor/>
                          </m:rP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sz="1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US" altLang="ko-KR" sz="1400" b="1" dirty="0">
                        <a:latin typeface="한컴 고딕" panose="02000500000000000000" pitchFamily="2" charset="-127"/>
                        <a:ea typeface="한컴 고딕" panose="02000500000000000000" pitchFamily="2" charset="-127"/>
                      </a:rPr>
                      <a:t> (H2 </a:t>
                    </a:r>
                    <a:r>
                      <a:rPr lang="ko-KR" altLang="en-US" sz="1400" b="1" dirty="0">
                        <a:latin typeface="한컴 고딕" panose="02000500000000000000" pitchFamily="2" charset="-127"/>
                        <a:ea typeface="한컴 고딕" panose="02000500000000000000" pitchFamily="2" charset="-127"/>
                      </a:rPr>
                      <a:t>추정기</a:t>
                    </a:r>
                    <a:r>
                      <a:rPr lang="en-US" altLang="ko-KR" sz="1400" b="1" dirty="0">
                        <a:latin typeface="한컴 고딕" panose="02000500000000000000" pitchFamily="2" charset="-127"/>
                        <a:ea typeface="한컴 고딕" panose="02000500000000000000" pitchFamily="2" charset="-127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986405BE-1F50-CF2D-5BE1-0AFB45C113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22164" y="2901317"/>
                    <a:ext cx="3958389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961" b="-1960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0D1F80A-EBC3-411C-0260-55183483C5D2}"/>
                    </a:ext>
                  </a:extLst>
                </p:cNvPr>
                <p:cNvSpPr txBox="1"/>
                <p:nvPr/>
              </p:nvSpPr>
              <p:spPr>
                <a:xfrm>
                  <a:off x="3392185" y="3526925"/>
                  <a:ext cx="79701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𝑿</m:t>
                      </m:r>
                    </m:oMath>
                  </a14:m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(</a:t>
                  </a:r>
                  <a:r>
                    <a:rPr lang="ko-KR" altLang="en-US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입력</a:t>
                  </a:r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)</a:t>
                  </a:r>
                  <a:endParaRPr lang="ko-KR" altLang="en-US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0D1F80A-EBC3-411C-0260-55183483C5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2185" y="3526925"/>
                  <a:ext cx="797013" cy="307777"/>
                </a:xfrm>
                <a:prstGeom prst="rect">
                  <a:avLst/>
                </a:prstGeom>
                <a:blipFill>
                  <a:blip r:embed="rId7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F98B3589-8396-FC59-8E11-B1EFEBAA6B35}"/>
                </a:ext>
              </a:extLst>
            </p:cNvPr>
            <p:cNvSpPr/>
            <p:nvPr/>
          </p:nvSpPr>
          <p:spPr>
            <a:xfrm>
              <a:off x="4147068" y="3623396"/>
              <a:ext cx="502920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98D3494-D440-32BF-860A-BB357BF217F4}"/>
                    </a:ext>
                  </a:extLst>
                </p:cNvPr>
                <p:cNvSpPr txBox="1"/>
                <p:nvPr/>
              </p:nvSpPr>
              <p:spPr>
                <a:xfrm>
                  <a:off x="4762864" y="4417498"/>
                  <a:ext cx="125737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𝑴</m:t>
                      </m:r>
                    </m:oMath>
                  </a14:m>
                  <a:r>
                    <a:rPr lang="ko-KR" altLang="en-US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 </a:t>
                  </a:r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(</a:t>
                  </a:r>
                  <a:r>
                    <a:rPr lang="ko-KR" altLang="en-US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노이즈</a:t>
                  </a:r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)</a:t>
                  </a:r>
                  <a:endParaRPr lang="ko-KR" altLang="en-US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98D3494-D440-32BF-860A-BB357BF217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2864" y="4417498"/>
                  <a:ext cx="1257377" cy="307777"/>
                </a:xfrm>
                <a:prstGeom prst="rect">
                  <a:avLst/>
                </a:prstGeom>
                <a:blipFill>
                  <a:blip r:embed="rId8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순서도: 연결자 26">
              <a:extLst>
                <a:ext uri="{FF2B5EF4-FFF2-40B4-BE49-F238E27FC236}">
                  <a16:creationId xmlns:a16="http://schemas.microsoft.com/office/drawing/2014/main" id="{24499D71-FFDD-BD45-F70E-29306FC20E72}"/>
                </a:ext>
              </a:extLst>
            </p:cNvPr>
            <p:cNvSpPr/>
            <p:nvPr/>
          </p:nvSpPr>
          <p:spPr>
            <a:xfrm>
              <a:off x="4684363" y="3425172"/>
              <a:ext cx="502920" cy="502920"/>
            </a:xfrm>
            <a:prstGeom prst="flowChart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BD9B8734-6ADE-7B59-D579-2E860D0E9325}"/>
                </a:ext>
              </a:extLst>
            </p:cNvPr>
            <p:cNvCxnSpPr>
              <a:cxnSpLocks/>
              <a:stCxn id="27" idx="5"/>
              <a:endCxn id="27" idx="1"/>
            </p:cNvCxnSpPr>
            <p:nvPr/>
          </p:nvCxnSpPr>
          <p:spPr>
            <a:xfrm flipH="1" flipV="1">
              <a:off x="4758014" y="3498823"/>
              <a:ext cx="355618" cy="3556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4624DDFF-49D9-D8F7-1829-3BC62D69BF0E}"/>
                </a:ext>
              </a:extLst>
            </p:cNvPr>
            <p:cNvCxnSpPr>
              <a:stCxn id="27" idx="3"/>
              <a:endCxn id="27" idx="7"/>
            </p:cNvCxnSpPr>
            <p:nvPr/>
          </p:nvCxnSpPr>
          <p:spPr>
            <a:xfrm flipV="1">
              <a:off x="4758014" y="3498823"/>
              <a:ext cx="355618" cy="3556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화살표: 오른쪽 29">
              <a:extLst>
                <a:ext uri="{FF2B5EF4-FFF2-40B4-BE49-F238E27FC236}">
                  <a16:creationId xmlns:a16="http://schemas.microsoft.com/office/drawing/2014/main" id="{1783870A-9E7C-89B4-176E-0D6E484D2910}"/>
                </a:ext>
              </a:extLst>
            </p:cNvPr>
            <p:cNvSpPr/>
            <p:nvPr/>
          </p:nvSpPr>
          <p:spPr>
            <a:xfrm rot="5400000">
              <a:off x="4709592" y="4133849"/>
              <a:ext cx="452462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26D3BE9-655A-8E8D-5FD5-A15233A285D0}"/>
                </a:ext>
              </a:extLst>
            </p:cNvPr>
            <p:cNvSpPr txBox="1"/>
            <p:nvPr/>
          </p:nvSpPr>
          <p:spPr>
            <a:xfrm>
              <a:off x="4765531" y="3632815"/>
              <a:ext cx="21809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2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-</a:t>
              </a:r>
              <a:endParaRPr lang="ko-KR" altLang="en-US" sz="2200" b="1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32" name="화살표: 오른쪽 31">
              <a:extLst>
                <a:ext uri="{FF2B5EF4-FFF2-40B4-BE49-F238E27FC236}">
                  <a16:creationId xmlns:a16="http://schemas.microsoft.com/office/drawing/2014/main" id="{D93DDE0F-617A-11E4-E5F6-3953FCDC548E}"/>
                </a:ext>
              </a:extLst>
            </p:cNvPr>
            <p:cNvSpPr/>
            <p:nvPr/>
          </p:nvSpPr>
          <p:spPr>
            <a:xfrm>
              <a:off x="5194070" y="3619214"/>
              <a:ext cx="502920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33" name="화살표: 오른쪽 32">
              <a:extLst>
                <a:ext uri="{FF2B5EF4-FFF2-40B4-BE49-F238E27FC236}">
                  <a16:creationId xmlns:a16="http://schemas.microsoft.com/office/drawing/2014/main" id="{49828B5F-BC38-0548-359E-1FF4D98771F0}"/>
                </a:ext>
              </a:extLst>
            </p:cNvPr>
            <p:cNvSpPr/>
            <p:nvPr/>
          </p:nvSpPr>
          <p:spPr>
            <a:xfrm>
              <a:off x="7128718" y="3625819"/>
              <a:ext cx="1069132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pic>
        <p:nvPicPr>
          <p:cNvPr id="10242" name="Picture 2" descr="사용자가 추가한 이미지">
            <a:extLst>
              <a:ext uri="{FF2B5EF4-FFF2-40B4-BE49-F238E27FC236}">
                <a16:creationId xmlns:a16="http://schemas.microsoft.com/office/drawing/2014/main" id="{F7706516-52C2-075C-F593-36DE2A2B0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141" y="3811949"/>
            <a:ext cx="5022088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FCDB64-6B92-53B6-ED81-6C2942DC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1799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1DA5-86FC-2379-4A03-D5C00A828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0A97E2-6B46-174B-56B5-7FFB9B9CC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29"/>
          </a:xfrm>
        </p:spPr>
        <p:txBody>
          <a:bodyPr>
            <a:noAutofit/>
          </a:bodyPr>
          <a:lstStyle/>
          <a:p>
            <a:r>
              <a:rPr lang="en-US" altLang="ko-KR" sz="20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6.3 FRF Estimation: HV Estimator</a:t>
            </a:r>
            <a:endParaRPr lang="ko-KR" altLang="en-US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E751270-A2FC-9D0F-1335-1A6AB308C211}"/>
              </a:ext>
            </a:extLst>
          </p:cNvPr>
          <p:cNvCxnSpPr>
            <a:cxnSpLocks/>
          </p:cNvCxnSpPr>
          <p:nvPr/>
        </p:nvCxnSpPr>
        <p:spPr>
          <a:xfrm>
            <a:off x="766618" y="803563"/>
            <a:ext cx="108619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5">
                <a:extLst>
                  <a:ext uri="{FF2B5EF4-FFF2-40B4-BE49-F238E27FC236}">
                    <a16:creationId xmlns:a16="http://schemas.microsoft.com/office/drawing/2014/main" id="{C7639740-CBDD-35E9-6BDB-3A42FCCFB9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4657" y="1194800"/>
                <a:ext cx="5143427" cy="43148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20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HV Estimator</a:t>
                </a:r>
              </a:p>
              <a:p>
                <a:pPr marL="0" indent="0">
                  <a:buNone/>
                </a:pPr>
                <a:endParaRPr lang="en-US" altLang="ko-KR" sz="20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6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가정</a:t>
                </a:r>
                <a:endParaRPr lang="en-US" altLang="ko-KR" sz="16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입력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과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출력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모두 노이즈 존재</a:t>
                </a: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600" b="1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특징</a:t>
                </a:r>
                <a:endParaRPr lang="en-US" altLang="ko-KR" sz="1600" b="1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H1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과 </a:t>
                </a:r>
                <a:r>
                  <a:rPr lang="en-US" altLang="ko-KR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H2</a:t>
                </a: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의 특성을 결합한 방법</a:t>
                </a: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전체 주파수 영역에서 안정적</a:t>
                </a: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r>
                  <a:rPr lang="ko-KR" altLang="en-US" sz="140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→ 실제 측정 환경에 가장 적합</a:t>
                </a: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marL="0" indent="0">
                  <a:buNone/>
                </a:pPr>
                <a:endParaRPr lang="en-US" altLang="ko-KR" sz="140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8" name="내용 개체 틀 5">
                <a:extLst>
                  <a:ext uri="{FF2B5EF4-FFF2-40B4-BE49-F238E27FC236}">
                    <a16:creationId xmlns:a16="http://schemas.microsoft.com/office/drawing/2014/main" id="{C7639740-CBDD-35E9-6BDB-3A42FCCFB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57" y="1194800"/>
                <a:ext cx="5143427" cy="4314837"/>
              </a:xfrm>
              <a:prstGeom prst="rect">
                <a:avLst/>
              </a:prstGeom>
              <a:blipFill>
                <a:blip r:embed="rId3"/>
                <a:stretch>
                  <a:fillRect l="-1185" t="-14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5309984-3358-649A-3BDD-C1306E26E3FC}"/>
              </a:ext>
            </a:extLst>
          </p:cNvPr>
          <p:cNvCxnSpPr>
            <a:cxnSpLocks/>
          </p:cNvCxnSpPr>
          <p:nvPr/>
        </p:nvCxnSpPr>
        <p:spPr>
          <a:xfrm>
            <a:off x="6095999" y="1591655"/>
            <a:ext cx="0" cy="45850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74D1F19-0A95-B9A4-A17A-D919370DBA02}"/>
              </a:ext>
            </a:extLst>
          </p:cNvPr>
          <p:cNvSpPr txBox="1"/>
          <p:nvPr/>
        </p:nvSpPr>
        <p:spPr>
          <a:xfrm>
            <a:off x="1898072" y="6565611"/>
            <a:ext cx="8719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이미지 출처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https://community.sw.siemens.com/s/article/what-is-a-frequency-response-function-frf</a:t>
            </a:r>
            <a:endParaRPr lang="ko-KR" altLang="en-US" sz="1400" dirty="0">
              <a:solidFill>
                <a:schemeClr val="bg1">
                  <a:lumMod val="75000"/>
                </a:schemeClr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674D089-5F8C-6211-467D-33973C436FEC}"/>
              </a:ext>
            </a:extLst>
          </p:cNvPr>
          <p:cNvGrpSpPr/>
          <p:nvPr/>
        </p:nvGrpSpPr>
        <p:grpSpPr>
          <a:xfrm>
            <a:off x="6095999" y="2128897"/>
            <a:ext cx="6173417" cy="1300103"/>
            <a:chOff x="2698897" y="5159595"/>
            <a:chExt cx="6173417" cy="13001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017F8022-684B-C27C-8078-002331D5CC9F}"/>
                    </a:ext>
                  </a:extLst>
                </p:cNvPr>
                <p:cNvSpPr/>
                <p:nvPr/>
              </p:nvSpPr>
              <p:spPr>
                <a:xfrm>
                  <a:off x="4971630" y="5171120"/>
                  <a:ext cx="1379220" cy="50292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oMath>
                    </m:oMathPara>
                  </a14:m>
                  <a:endParaRPr lang="ko-KR" altLang="en-US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017F8022-684B-C27C-8078-002331D5CC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630" y="5171120"/>
                  <a:ext cx="1379220" cy="5029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0AE4449-5C7A-5B1F-B4D7-666EF5978859}"/>
                    </a:ext>
                  </a:extLst>
                </p:cNvPr>
                <p:cNvSpPr txBox="1"/>
                <p:nvPr/>
              </p:nvSpPr>
              <p:spPr>
                <a:xfrm>
                  <a:off x="2698897" y="5261257"/>
                  <a:ext cx="7970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𝑿</m:t>
                      </m:r>
                    </m:oMath>
                  </a14:m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(</a:t>
                  </a:r>
                  <a:r>
                    <a:rPr lang="ko-KR" altLang="en-US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입력</a:t>
                  </a:r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)</a:t>
                  </a:r>
                  <a:endParaRPr lang="ko-KR" altLang="en-US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0AE4449-5C7A-5B1F-B4D7-666EF59788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8897" y="5261257"/>
                  <a:ext cx="797013" cy="307777"/>
                </a:xfrm>
                <a:prstGeom prst="rect">
                  <a:avLst/>
                </a:prstGeom>
                <a:blipFill>
                  <a:blip r:embed="rId5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A86091C-E558-2D28-A464-1D31688BDC22}"/>
                    </a:ext>
                  </a:extLst>
                </p:cNvPr>
                <p:cNvSpPr txBox="1"/>
                <p:nvPr/>
              </p:nvSpPr>
              <p:spPr>
                <a:xfrm>
                  <a:off x="8081058" y="5264554"/>
                  <a:ext cx="79125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𝒀</m:t>
                      </m:r>
                    </m:oMath>
                  </a14:m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(</a:t>
                  </a:r>
                  <a:r>
                    <a:rPr lang="ko-KR" altLang="en-US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출력</a:t>
                  </a:r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)</a:t>
                  </a:r>
                  <a:endParaRPr lang="ko-KR" altLang="en-US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A86091C-E558-2D28-A464-1D31688BDC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1058" y="5264554"/>
                  <a:ext cx="791256" cy="307777"/>
                </a:xfrm>
                <a:prstGeom prst="rect">
                  <a:avLst/>
                </a:prstGeom>
                <a:blipFill>
                  <a:blip r:embed="rId6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B04E76E-39BA-C72D-A659-EDABBF99031F}"/>
                    </a:ext>
                  </a:extLst>
                </p:cNvPr>
                <p:cNvSpPr txBox="1"/>
                <p:nvPr/>
              </p:nvSpPr>
              <p:spPr>
                <a:xfrm>
                  <a:off x="4572213" y="5769767"/>
                  <a:ext cx="224536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ko-KR" sz="1400" b="1" i="0" smtClean="0">
                            <a:latin typeface="한컴 고딕" panose="02000500000000000000" pitchFamily="2" charset="-127"/>
                            <a:ea typeface="한컴 고딕" panose="02000500000000000000" pitchFamily="2" charset="-127"/>
                          </a:rPr>
                          <m:t>  </m:t>
                        </m:r>
                      </m:oMath>
                    </m:oMathPara>
                  </a14:m>
                  <a:endParaRPr lang="en-US" altLang="ko-KR" sz="1400" b="1" i="0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  <a:p>
                  <a:pPr algn="ctr"/>
                  <a:r>
                    <a:rPr lang="en-US" altLang="ko-KR" sz="1400" b="1" i="0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(HV </a:t>
                  </a:r>
                  <a:r>
                    <a:rPr lang="ko-KR" altLang="en-US" sz="1400" b="1" i="0" dirty="0" err="1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추정기</a:t>
                  </a:r>
                  <a:r>
                    <a:rPr lang="en-US" altLang="ko-KR" sz="1400" b="1" i="0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B04E76E-39BA-C72D-A659-EDABBF990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213" y="5769767"/>
                  <a:ext cx="2245364" cy="523220"/>
                </a:xfrm>
                <a:prstGeom prst="rect">
                  <a:avLst/>
                </a:prstGeom>
                <a:blipFill>
                  <a:blip r:embed="rId7"/>
                  <a:stretch>
                    <a:fillRect b="-1162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AFDEFD7-BAF0-4B6E-5C39-DA607A3E95D1}"/>
                    </a:ext>
                  </a:extLst>
                </p:cNvPr>
                <p:cNvSpPr txBox="1"/>
                <p:nvPr/>
              </p:nvSpPr>
              <p:spPr>
                <a:xfrm>
                  <a:off x="7015565" y="6111442"/>
                  <a:ext cx="125737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𝑵</m:t>
                      </m:r>
                    </m:oMath>
                  </a14:m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 (</a:t>
                  </a:r>
                  <a:r>
                    <a:rPr lang="ko-KR" altLang="en-US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노이즈</a:t>
                  </a:r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)</a:t>
                  </a:r>
                  <a:endParaRPr lang="ko-KR" altLang="en-US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AFDEFD7-BAF0-4B6E-5C39-DA607A3E95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5565" y="6111442"/>
                  <a:ext cx="1257377" cy="307777"/>
                </a:xfrm>
                <a:prstGeom prst="rect">
                  <a:avLst/>
                </a:prstGeom>
                <a:blipFill>
                  <a:blip r:embed="rId8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E47B4E21-371A-B349-8339-F1B8A0D04AE0}"/>
                </a:ext>
              </a:extLst>
            </p:cNvPr>
            <p:cNvSpPr/>
            <p:nvPr/>
          </p:nvSpPr>
          <p:spPr>
            <a:xfrm>
              <a:off x="3453780" y="5357728"/>
              <a:ext cx="547032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94FD4338-65E3-7D88-79C0-711082F938F5}"/>
                </a:ext>
              </a:extLst>
            </p:cNvPr>
            <p:cNvSpPr/>
            <p:nvPr/>
          </p:nvSpPr>
          <p:spPr>
            <a:xfrm>
              <a:off x="6368033" y="5361025"/>
              <a:ext cx="545635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D5BE1DC5-7B3E-F295-FD0D-A50DB5F2D047}"/>
                </a:ext>
              </a:extLst>
            </p:cNvPr>
            <p:cNvSpPr/>
            <p:nvPr/>
          </p:nvSpPr>
          <p:spPr>
            <a:xfrm>
              <a:off x="7500430" y="5363298"/>
              <a:ext cx="626674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16" name="순서도: 연결자 15">
              <a:extLst>
                <a:ext uri="{FF2B5EF4-FFF2-40B4-BE49-F238E27FC236}">
                  <a16:creationId xmlns:a16="http://schemas.microsoft.com/office/drawing/2014/main" id="{F51A741D-2741-E432-FAF3-C37518A8E331}"/>
                </a:ext>
              </a:extLst>
            </p:cNvPr>
            <p:cNvSpPr/>
            <p:nvPr/>
          </p:nvSpPr>
          <p:spPr>
            <a:xfrm>
              <a:off x="6941914" y="5171120"/>
              <a:ext cx="502920" cy="502920"/>
            </a:xfrm>
            <a:prstGeom prst="flowChart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2334F7B-8169-9A17-31FE-DD384B7C5BE8}"/>
                </a:ext>
              </a:extLst>
            </p:cNvPr>
            <p:cNvCxnSpPr>
              <a:cxnSpLocks/>
              <a:stCxn id="16" idx="5"/>
              <a:endCxn id="16" idx="1"/>
            </p:cNvCxnSpPr>
            <p:nvPr/>
          </p:nvCxnSpPr>
          <p:spPr>
            <a:xfrm flipH="1" flipV="1">
              <a:off x="7015565" y="5244771"/>
              <a:ext cx="355618" cy="3556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353581C8-6F4F-0E34-9189-0C7046B34ED2}"/>
                </a:ext>
              </a:extLst>
            </p:cNvPr>
            <p:cNvCxnSpPr>
              <a:stCxn id="16" idx="3"/>
              <a:endCxn id="16" idx="7"/>
            </p:cNvCxnSpPr>
            <p:nvPr/>
          </p:nvCxnSpPr>
          <p:spPr>
            <a:xfrm flipV="1">
              <a:off x="7015565" y="5244771"/>
              <a:ext cx="355618" cy="3556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화살표: 오른쪽 20">
              <a:extLst>
                <a:ext uri="{FF2B5EF4-FFF2-40B4-BE49-F238E27FC236}">
                  <a16:creationId xmlns:a16="http://schemas.microsoft.com/office/drawing/2014/main" id="{BECEF502-BD76-CAE3-40FF-7BA01A5E5D2E}"/>
                </a:ext>
              </a:extLst>
            </p:cNvPr>
            <p:cNvSpPr/>
            <p:nvPr/>
          </p:nvSpPr>
          <p:spPr>
            <a:xfrm rot="16200000">
              <a:off x="6972905" y="5874035"/>
              <a:ext cx="440937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98C944D-254C-791D-1A0C-ECE5FCEE3FBB}"/>
                </a:ext>
              </a:extLst>
            </p:cNvPr>
            <p:cNvSpPr txBox="1"/>
            <p:nvPr/>
          </p:nvSpPr>
          <p:spPr>
            <a:xfrm>
              <a:off x="7067482" y="5370600"/>
              <a:ext cx="1148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b="1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123A769-66C8-D4F1-806E-787E3619C1C8}"/>
                    </a:ext>
                  </a:extLst>
                </p:cNvPr>
                <p:cNvSpPr txBox="1"/>
                <p:nvPr/>
              </p:nvSpPr>
              <p:spPr>
                <a:xfrm>
                  <a:off x="4096495" y="6151921"/>
                  <a:ext cx="125737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𝑴</m:t>
                      </m:r>
                    </m:oMath>
                  </a14:m>
                  <a:r>
                    <a:rPr lang="ko-KR" altLang="en-US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 </a:t>
                  </a:r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(</a:t>
                  </a:r>
                  <a:r>
                    <a:rPr lang="ko-KR" altLang="en-US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노이즈</a:t>
                  </a:r>
                  <a:r>
                    <a:rPr lang="en-US" altLang="ko-KR" sz="1400" b="1" dirty="0">
                      <a:latin typeface="한컴 고딕" panose="02000500000000000000" pitchFamily="2" charset="-127"/>
                      <a:ea typeface="한컴 고딕" panose="02000500000000000000" pitchFamily="2" charset="-127"/>
                    </a:rPr>
                    <a:t>)</a:t>
                  </a:r>
                  <a:endParaRPr lang="ko-KR" altLang="en-US" sz="1400" b="1" dirty="0">
                    <a:latin typeface="한컴 고딕" panose="02000500000000000000" pitchFamily="2" charset="-127"/>
                    <a:ea typeface="한컴 고딕" panose="02000500000000000000" pitchFamily="2" charset="-127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123A769-66C8-D4F1-806E-787E3619C1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495" y="6151921"/>
                  <a:ext cx="1257377" cy="307777"/>
                </a:xfrm>
                <a:prstGeom prst="rect">
                  <a:avLst/>
                </a:prstGeom>
                <a:blipFill>
                  <a:blip r:embed="rId9"/>
                  <a:stretch>
                    <a:fillRect t="-3922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순서도: 연결자 38">
              <a:extLst>
                <a:ext uri="{FF2B5EF4-FFF2-40B4-BE49-F238E27FC236}">
                  <a16:creationId xmlns:a16="http://schemas.microsoft.com/office/drawing/2014/main" id="{EE13704B-CE09-EC7C-9012-B4267E877D50}"/>
                </a:ext>
              </a:extLst>
            </p:cNvPr>
            <p:cNvSpPr/>
            <p:nvPr/>
          </p:nvSpPr>
          <p:spPr>
            <a:xfrm>
              <a:off x="4017994" y="5159595"/>
              <a:ext cx="502920" cy="502920"/>
            </a:xfrm>
            <a:prstGeom prst="flowChart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02AC5B59-D76C-2178-89D0-4E534DB5E8AD}"/>
                </a:ext>
              </a:extLst>
            </p:cNvPr>
            <p:cNvCxnSpPr>
              <a:cxnSpLocks/>
              <a:stCxn id="39" idx="5"/>
              <a:endCxn id="39" idx="1"/>
            </p:cNvCxnSpPr>
            <p:nvPr/>
          </p:nvCxnSpPr>
          <p:spPr>
            <a:xfrm flipH="1" flipV="1">
              <a:off x="4091645" y="5233246"/>
              <a:ext cx="355618" cy="3556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BF47210C-1102-8142-8399-D1EF4419F24E}"/>
                </a:ext>
              </a:extLst>
            </p:cNvPr>
            <p:cNvCxnSpPr>
              <a:stCxn id="39" idx="3"/>
              <a:endCxn id="39" idx="7"/>
            </p:cNvCxnSpPr>
            <p:nvPr/>
          </p:nvCxnSpPr>
          <p:spPr>
            <a:xfrm flipV="1">
              <a:off x="4091645" y="5233246"/>
              <a:ext cx="355618" cy="3556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화살표: 오른쪽 41">
              <a:extLst>
                <a:ext uri="{FF2B5EF4-FFF2-40B4-BE49-F238E27FC236}">
                  <a16:creationId xmlns:a16="http://schemas.microsoft.com/office/drawing/2014/main" id="{C58DD5E4-6E19-D49A-084F-A94E916EE74C}"/>
                </a:ext>
              </a:extLst>
            </p:cNvPr>
            <p:cNvSpPr/>
            <p:nvPr/>
          </p:nvSpPr>
          <p:spPr>
            <a:xfrm rot="5400000">
              <a:off x="4043223" y="5868272"/>
              <a:ext cx="452462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033BFA4-173B-7050-E3FC-A4339E5A48E2}"/>
                </a:ext>
              </a:extLst>
            </p:cNvPr>
            <p:cNvSpPr txBox="1"/>
            <p:nvPr/>
          </p:nvSpPr>
          <p:spPr>
            <a:xfrm>
              <a:off x="4108780" y="5373056"/>
              <a:ext cx="21809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200" b="1" dirty="0">
                  <a:latin typeface="한컴 고딕" panose="02000500000000000000" pitchFamily="2" charset="-127"/>
                  <a:ea typeface="한컴 고딕" panose="02000500000000000000" pitchFamily="2" charset="-127"/>
                </a:rPr>
                <a:t>-</a:t>
              </a:r>
              <a:endParaRPr lang="ko-KR" altLang="en-US" sz="2200" b="1" dirty="0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  <p:sp>
          <p:nvSpPr>
            <p:cNvPr id="44" name="화살표: 오른쪽 43">
              <a:extLst>
                <a:ext uri="{FF2B5EF4-FFF2-40B4-BE49-F238E27FC236}">
                  <a16:creationId xmlns:a16="http://schemas.microsoft.com/office/drawing/2014/main" id="{EC63DA9B-F4C5-5C8D-A733-07020BCC9EC1}"/>
                </a:ext>
              </a:extLst>
            </p:cNvPr>
            <p:cNvSpPr/>
            <p:nvPr/>
          </p:nvSpPr>
          <p:spPr>
            <a:xfrm>
              <a:off x="4529173" y="5352810"/>
              <a:ext cx="425274" cy="114836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한컴 고딕" panose="02000500000000000000" pitchFamily="2" charset="-127"/>
                <a:ea typeface="한컴 고딕" panose="02000500000000000000" pitchFamily="2" charset="-127"/>
              </a:endParaRPr>
            </a:p>
          </p:txBody>
        </p:sp>
      </p:grpSp>
      <p:pic>
        <p:nvPicPr>
          <p:cNvPr id="9218" name="Picture 2" descr="사용자가 추가한 이미지">
            <a:extLst>
              <a:ext uri="{FF2B5EF4-FFF2-40B4-BE49-F238E27FC236}">
                <a16:creationId xmlns:a16="http://schemas.microsoft.com/office/drawing/2014/main" id="{06C997C6-7AA8-25FA-D70F-6B277822C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278" y="3796714"/>
            <a:ext cx="5040000" cy="1994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A659136-E3E9-158F-9CC9-0C605B80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BD5209-9092-BEE6-663C-86A6476323E5}"/>
              </a:ext>
            </a:extLst>
          </p:cNvPr>
          <p:cNvSpPr txBox="1"/>
          <p:nvPr/>
        </p:nvSpPr>
        <p:spPr>
          <a:xfrm>
            <a:off x="10411056" y="2342357"/>
            <a:ext cx="2180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-</a:t>
            </a:r>
            <a:endParaRPr lang="ko-KR" altLang="en-US" sz="22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6993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0DDD9-C73A-785A-D484-B8C22C88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EE618-0FF2-7933-6965-96C3A3AC3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0729"/>
          </a:xfrm>
        </p:spPr>
        <p:txBody>
          <a:bodyPr>
            <a:noAutofit/>
          </a:bodyPr>
          <a:lstStyle/>
          <a:p>
            <a:r>
              <a:rPr lang="ko-KR" altLang="en-US" sz="2000" b="1" dirty="0"/>
              <a:t>결론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E423FFF-3850-B9E6-C501-67459842479A}"/>
              </a:ext>
            </a:extLst>
          </p:cNvPr>
          <p:cNvCxnSpPr>
            <a:cxnSpLocks/>
          </p:cNvCxnSpPr>
          <p:nvPr/>
        </p:nvCxnSpPr>
        <p:spPr>
          <a:xfrm>
            <a:off x="766618" y="803563"/>
            <a:ext cx="1086196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내용 개체 틀 5">
            <a:extLst>
              <a:ext uri="{FF2B5EF4-FFF2-40B4-BE49-F238E27FC236}">
                <a16:creationId xmlns:a16="http://schemas.microsoft.com/office/drawing/2014/main" id="{2FE35B69-3190-4715-7823-6A12545A481D}"/>
              </a:ext>
            </a:extLst>
          </p:cNvPr>
          <p:cNvSpPr txBox="1">
            <a:spLocks/>
          </p:cNvSpPr>
          <p:nvPr/>
        </p:nvSpPr>
        <p:spPr>
          <a:xfrm>
            <a:off x="794657" y="1194800"/>
            <a:ext cx="10833925" cy="5298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altLang="ko-KR" sz="20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 algn="ctr">
              <a:buNone/>
            </a:pPr>
            <a:endParaRPr lang="en-US" altLang="ko-KR" sz="2400" b="1" dirty="0"/>
          </a:p>
          <a:p>
            <a:pPr marL="0" indent="0" algn="ctr">
              <a:buNone/>
            </a:pPr>
            <a:r>
              <a:rPr lang="ko-KR" altLang="en-US" sz="2400" b="1" dirty="0"/>
              <a:t>실험적 </a:t>
            </a:r>
            <a:r>
              <a:rPr lang="en-US" altLang="ko-KR" sz="2400" b="1" dirty="0"/>
              <a:t>FRF</a:t>
            </a:r>
            <a:r>
              <a:rPr lang="ko-KR" altLang="en-US" sz="2400" b="1" dirty="0"/>
              <a:t>의 의의</a:t>
            </a:r>
            <a:endParaRPr lang="en-US" altLang="ko-KR" sz="2400" b="1" dirty="0"/>
          </a:p>
          <a:p>
            <a:pPr marL="0" indent="0" algn="ctr">
              <a:buNone/>
            </a:pPr>
            <a:endParaRPr lang="en-US" altLang="ko-KR" sz="2400" dirty="0"/>
          </a:p>
          <a:p>
            <a:pPr marL="0" indent="0" algn="ctr">
              <a:buNone/>
            </a:pPr>
            <a:r>
              <a:rPr lang="ko-KR" altLang="en-US" sz="1800" dirty="0"/>
              <a:t>이론을 보완하고</a:t>
            </a:r>
            <a:r>
              <a:rPr lang="en-US" altLang="ko-KR" sz="1800" dirty="0"/>
              <a:t>, </a:t>
            </a:r>
            <a:r>
              <a:rPr lang="ko-KR" altLang="en-US" sz="1800" dirty="0"/>
              <a:t>실제 시스템 해석 및 설계에 직접 활용되는 핵심 도구</a:t>
            </a:r>
          </a:p>
          <a:p>
            <a:pPr marL="0" indent="0" algn="ctr">
              <a:buNone/>
            </a:pPr>
            <a:r>
              <a:rPr lang="ko-KR" altLang="en-US" sz="1800" dirty="0"/>
              <a:t>실제 시스템의 동특성을 실험 기반으로 정량적 분석 가능 </a:t>
            </a:r>
          </a:p>
          <a:p>
            <a:pPr marL="0" indent="0" algn="ctr">
              <a:buNone/>
            </a:pPr>
            <a:r>
              <a:rPr lang="en-US" altLang="ko-KR" sz="1800" dirty="0" err="1"/>
              <a:t>Crosspower</a:t>
            </a:r>
            <a:r>
              <a:rPr lang="en-US" altLang="ko-KR" sz="1800" dirty="0"/>
              <a:t> / </a:t>
            </a:r>
            <a:r>
              <a:rPr lang="en-US" altLang="ko-KR" sz="1800" dirty="0" err="1"/>
              <a:t>Autopower</a:t>
            </a:r>
            <a:r>
              <a:rPr lang="en-US" altLang="ko-KR" sz="1800" dirty="0"/>
              <a:t> </a:t>
            </a:r>
            <a:r>
              <a:rPr lang="ko-KR" altLang="en-US" sz="1800" dirty="0"/>
              <a:t>기반으로 안정적인 </a:t>
            </a:r>
            <a:r>
              <a:rPr lang="en-US" altLang="ko-KR" sz="1800" dirty="0"/>
              <a:t>FRF </a:t>
            </a:r>
            <a:r>
              <a:rPr lang="ko-KR" altLang="en-US" sz="1800" dirty="0"/>
              <a:t>추정 수행 </a:t>
            </a:r>
          </a:p>
          <a:p>
            <a:pPr marL="0" indent="0" algn="ctr">
              <a:buNone/>
            </a:pPr>
            <a:r>
              <a:rPr lang="ko-KR" altLang="en-US" sz="1800" dirty="0"/>
              <a:t>허수 </a:t>
            </a:r>
            <a:r>
              <a:rPr lang="en-US" altLang="ko-KR" sz="1800" dirty="0"/>
              <a:t>FRF</a:t>
            </a:r>
            <a:r>
              <a:rPr lang="ko-KR" altLang="en-US" sz="1800" dirty="0"/>
              <a:t>를 통해 공진 및 모드 형상 직관적 파악 가능 </a:t>
            </a:r>
          </a:p>
          <a:p>
            <a:pPr marL="0" indent="0" algn="ctr">
              <a:buNone/>
            </a:pPr>
            <a:r>
              <a:rPr lang="en-US" altLang="ko-KR" sz="1800" dirty="0"/>
              <a:t>Coherence</a:t>
            </a:r>
            <a:r>
              <a:rPr lang="ko-KR" altLang="en-US" sz="1800" dirty="0"/>
              <a:t>를 이용한 측정 신뢰도 평가 가능 </a:t>
            </a:r>
          </a:p>
          <a:p>
            <a:pPr marL="0" indent="0" algn="ctr">
              <a:buNone/>
            </a:pPr>
            <a:r>
              <a:rPr lang="en-US" altLang="ko-KR" sz="1800" dirty="0"/>
              <a:t>H1, H2, HV </a:t>
            </a:r>
            <a:r>
              <a:rPr lang="ko-KR" altLang="en-US" sz="1800" dirty="0"/>
              <a:t>추정기법을 통해 노이즈 조건에 따른 최적 추정 가능</a:t>
            </a:r>
            <a:endParaRPr lang="en-US" altLang="ko-KR" sz="1800" dirty="0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99B868AE-509A-06D0-544F-5C67257F4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71E6-49E2-4417-AA26-214AE2CEF00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550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2142</TotalTime>
  <Words>1810</Words>
  <Application>Microsoft Office PowerPoint</Application>
  <PresentationFormat>와이드스크린</PresentationFormat>
  <Paragraphs>313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맑은 고딕</vt:lpstr>
      <vt:lpstr>한컴 고딕</vt:lpstr>
      <vt:lpstr>Arial</vt:lpstr>
      <vt:lpstr>Cambria Math</vt:lpstr>
      <vt:lpstr>Wingdings</vt:lpstr>
      <vt:lpstr>Office 테마</vt:lpstr>
      <vt:lpstr>실험적 FRF 측정 및 추정 기법</vt:lpstr>
      <vt:lpstr>목차</vt:lpstr>
      <vt:lpstr>1. 측정 유형 및 장비</vt:lpstr>
      <vt:lpstr>2. Input Force 분석</vt:lpstr>
      <vt:lpstr>3. 이론적 FRF, 실험적 FRF</vt:lpstr>
      <vt:lpstr>3.1 Crosspower, Autopower Formulation </vt:lpstr>
      <vt:lpstr>3.2 실험적 FRF 유도과정</vt:lpstr>
      <vt:lpstr>4. 허수 (imaginary) FRF와 Mode shape</vt:lpstr>
      <vt:lpstr>4.1 Example</vt:lpstr>
      <vt:lpstr>5. Coherence</vt:lpstr>
      <vt:lpstr>6.1 FRF Estimation : H1 Estimator</vt:lpstr>
      <vt:lpstr>6.2 FRF Estimation: H2 Estimator</vt:lpstr>
      <vt:lpstr>6.3 FRF Estimation: HV Estimator</vt:lpstr>
      <vt:lpstr>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경호 민</dc:creator>
  <cp:lastModifiedBy>민경호</cp:lastModifiedBy>
  <cp:revision>40</cp:revision>
  <dcterms:created xsi:type="dcterms:W3CDTF">2026-04-03T08:22:20Z</dcterms:created>
  <dcterms:modified xsi:type="dcterms:W3CDTF">2026-04-08T07:49:43Z</dcterms:modified>
</cp:coreProperties>
</file>